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1" r:id="rId3"/>
    <p:sldId id="257" r:id="rId4"/>
    <p:sldId id="262" r:id="rId5"/>
    <p:sldId id="258" r:id="rId6"/>
    <p:sldId id="263" r:id="rId7"/>
    <p:sldId id="264" r:id="rId8"/>
    <p:sldId id="267" r:id="rId9"/>
    <p:sldId id="265" r:id="rId10"/>
    <p:sldId id="266" r:id="rId11"/>
    <p:sldId id="268" r:id="rId12"/>
    <p:sldId id="281" r:id="rId13"/>
    <p:sldId id="282"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 id="286" r:id="rId28"/>
    <p:sldId id="284" r:id="rId29"/>
    <p:sldId id="287" r:id="rId30"/>
    <p:sldId id="288" r:id="rId31"/>
    <p:sldId id="289" r:id="rId32"/>
    <p:sldId id="290" r:id="rId33"/>
    <p:sldId id="291" r:id="rId34"/>
    <p:sldId id="292"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B6ACB-A561-4F8D-B617-ED42AC4B7507}" v="510" dt="2026-03-26T17:03:12.3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u mathew" userId="ec8c2f12682202a6" providerId="LiveId" clId="{05ADEA0A-BB2B-4313-8B38-3B2BF9CE5AE5}"/>
    <pc:docChg chg="undo custSel addSld delSld modSld">
      <pc:chgData name="sanu mathew" userId="ec8c2f12682202a6" providerId="LiveId" clId="{05ADEA0A-BB2B-4313-8B38-3B2BF9CE5AE5}" dt="2026-03-26T17:03:12.356" v="5315"/>
      <pc:docMkLst>
        <pc:docMk/>
      </pc:docMkLst>
      <pc:sldChg chg="modSp mod">
        <pc:chgData name="sanu mathew" userId="ec8c2f12682202a6" providerId="LiveId" clId="{05ADEA0A-BB2B-4313-8B38-3B2BF9CE5AE5}" dt="2026-03-26T06:46:22.841" v="72" actId="12"/>
        <pc:sldMkLst>
          <pc:docMk/>
          <pc:sldMk cId="3133261176" sldId="257"/>
        </pc:sldMkLst>
        <pc:spChg chg="mod">
          <ac:chgData name="sanu mathew" userId="ec8c2f12682202a6" providerId="LiveId" clId="{05ADEA0A-BB2B-4313-8B38-3B2BF9CE5AE5}" dt="2026-03-26T06:46:22.841" v="72" actId="12"/>
          <ac:spMkLst>
            <pc:docMk/>
            <pc:sldMk cId="3133261176" sldId="257"/>
            <ac:spMk id="3" creationId="{8DA330DD-E06E-30FF-1694-02DD7B1E9FBE}"/>
          </ac:spMkLst>
        </pc:spChg>
      </pc:sldChg>
      <pc:sldChg chg="modSp mod">
        <pc:chgData name="sanu mathew" userId="ec8c2f12682202a6" providerId="LiveId" clId="{05ADEA0A-BB2B-4313-8B38-3B2BF9CE5AE5}" dt="2026-03-26T06:46:44.155" v="76" actId="27636"/>
        <pc:sldMkLst>
          <pc:docMk/>
          <pc:sldMk cId="137120380" sldId="258"/>
        </pc:sldMkLst>
        <pc:spChg chg="mod">
          <ac:chgData name="sanu mathew" userId="ec8c2f12682202a6" providerId="LiveId" clId="{05ADEA0A-BB2B-4313-8B38-3B2BF9CE5AE5}" dt="2026-03-26T06:46:44.155" v="76" actId="27636"/>
          <ac:spMkLst>
            <pc:docMk/>
            <pc:sldMk cId="137120380" sldId="258"/>
            <ac:spMk id="3" creationId="{B07836E7-8F80-0AEF-D792-183061A9341D}"/>
          </ac:spMkLst>
        </pc:spChg>
      </pc:sldChg>
      <pc:sldChg chg="modSp mod">
        <pc:chgData name="sanu mathew" userId="ec8c2f12682202a6" providerId="LiveId" clId="{05ADEA0A-BB2B-4313-8B38-3B2BF9CE5AE5}" dt="2026-03-26T06:46:35.477" v="74" actId="11"/>
        <pc:sldMkLst>
          <pc:docMk/>
          <pc:sldMk cId="1237911088" sldId="262"/>
        </pc:sldMkLst>
        <pc:spChg chg="mod">
          <ac:chgData name="sanu mathew" userId="ec8c2f12682202a6" providerId="LiveId" clId="{05ADEA0A-BB2B-4313-8B38-3B2BF9CE5AE5}" dt="2026-03-26T06:46:35.477" v="74" actId="11"/>
          <ac:spMkLst>
            <pc:docMk/>
            <pc:sldMk cId="1237911088" sldId="262"/>
            <ac:spMk id="3" creationId="{65F459FE-276F-84BB-466C-D9AEFC02E273}"/>
          </ac:spMkLst>
        </pc:spChg>
      </pc:sldChg>
      <pc:sldChg chg="modSp mod">
        <pc:chgData name="sanu mathew" userId="ec8c2f12682202a6" providerId="LiveId" clId="{05ADEA0A-BB2B-4313-8B38-3B2BF9CE5AE5}" dt="2026-03-26T06:46:53.440" v="77" actId="12"/>
        <pc:sldMkLst>
          <pc:docMk/>
          <pc:sldMk cId="2682492389" sldId="263"/>
        </pc:sldMkLst>
        <pc:spChg chg="mod">
          <ac:chgData name="sanu mathew" userId="ec8c2f12682202a6" providerId="LiveId" clId="{05ADEA0A-BB2B-4313-8B38-3B2BF9CE5AE5}" dt="2026-03-26T06:46:53.440" v="77" actId="12"/>
          <ac:spMkLst>
            <pc:docMk/>
            <pc:sldMk cId="2682492389" sldId="263"/>
            <ac:spMk id="3" creationId="{05CDB3D5-9010-7FFF-8EDA-F5EE7F3A7279}"/>
          </ac:spMkLst>
        </pc:spChg>
      </pc:sldChg>
      <pc:sldChg chg="modSp mod">
        <pc:chgData name="sanu mathew" userId="ec8c2f12682202a6" providerId="LiveId" clId="{05ADEA0A-BB2B-4313-8B38-3B2BF9CE5AE5}" dt="2026-03-26T06:46:58.771" v="78" actId="12"/>
        <pc:sldMkLst>
          <pc:docMk/>
          <pc:sldMk cId="1366030579" sldId="264"/>
        </pc:sldMkLst>
        <pc:spChg chg="mod">
          <ac:chgData name="sanu mathew" userId="ec8c2f12682202a6" providerId="LiveId" clId="{05ADEA0A-BB2B-4313-8B38-3B2BF9CE5AE5}" dt="2026-03-26T06:46:58.771" v="78" actId="12"/>
          <ac:spMkLst>
            <pc:docMk/>
            <pc:sldMk cId="1366030579" sldId="264"/>
            <ac:spMk id="3" creationId="{508AB6A9-CBDB-5E15-467A-CC2CA2FE3C29}"/>
          </ac:spMkLst>
        </pc:spChg>
      </pc:sldChg>
      <pc:sldChg chg="modSp mod">
        <pc:chgData name="sanu mathew" userId="ec8c2f12682202a6" providerId="LiveId" clId="{05ADEA0A-BB2B-4313-8B38-3B2BF9CE5AE5}" dt="2026-03-26T06:47:05.106" v="80" actId="27636"/>
        <pc:sldMkLst>
          <pc:docMk/>
          <pc:sldMk cId="2463529125" sldId="267"/>
        </pc:sldMkLst>
        <pc:spChg chg="mod">
          <ac:chgData name="sanu mathew" userId="ec8c2f12682202a6" providerId="LiveId" clId="{05ADEA0A-BB2B-4313-8B38-3B2BF9CE5AE5}" dt="2026-03-26T06:47:05.106" v="80" actId="27636"/>
          <ac:spMkLst>
            <pc:docMk/>
            <pc:sldMk cId="2463529125" sldId="267"/>
            <ac:spMk id="3" creationId="{AF3CC868-F31E-93B9-0C20-0D8CC9B7528E}"/>
          </ac:spMkLst>
        </pc:spChg>
      </pc:sldChg>
      <pc:sldChg chg="modSp mod">
        <pc:chgData name="sanu mathew" userId="ec8c2f12682202a6" providerId="LiveId" clId="{05ADEA0A-BB2B-4313-8B38-3B2BF9CE5AE5}" dt="2026-03-26T06:47:21.335" v="82" actId="27636"/>
        <pc:sldMkLst>
          <pc:docMk/>
          <pc:sldMk cId="3419153443" sldId="268"/>
        </pc:sldMkLst>
        <pc:spChg chg="mod">
          <ac:chgData name="sanu mathew" userId="ec8c2f12682202a6" providerId="LiveId" clId="{05ADEA0A-BB2B-4313-8B38-3B2BF9CE5AE5}" dt="2026-03-26T06:47:21.335" v="82" actId="27636"/>
          <ac:spMkLst>
            <pc:docMk/>
            <pc:sldMk cId="3419153443" sldId="268"/>
            <ac:spMk id="3" creationId="{7C309250-A68A-DE11-59E2-1D546E6F9296}"/>
          </ac:spMkLst>
        </pc:spChg>
      </pc:sldChg>
      <pc:sldChg chg="modSp new mod">
        <pc:chgData name="sanu mathew" userId="ec8c2f12682202a6" providerId="LiveId" clId="{05ADEA0A-BB2B-4313-8B38-3B2BF9CE5AE5}" dt="2026-03-26T06:49:24.595" v="93" actId="27636"/>
        <pc:sldMkLst>
          <pc:docMk/>
          <pc:sldMk cId="1709737051" sldId="271"/>
        </pc:sldMkLst>
        <pc:spChg chg="mod">
          <ac:chgData name="sanu mathew" userId="ec8c2f12682202a6" providerId="LiveId" clId="{05ADEA0A-BB2B-4313-8B38-3B2BF9CE5AE5}" dt="2026-03-25T16:29:04.265" v="37" actId="14100"/>
          <ac:spMkLst>
            <pc:docMk/>
            <pc:sldMk cId="1709737051" sldId="271"/>
            <ac:spMk id="2" creationId="{1893C381-A3E1-EDAE-2F5F-4B56D64E262E}"/>
          </ac:spMkLst>
        </pc:spChg>
        <pc:spChg chg="mod">
          <ac:chgData name="sanu mathew" userId="ec8c2f12682202a6" providerId="LiveId" clId="{05ADEA0A-BB2B-4313-8B38-3B2BF9CE5AE5}" dt="2026-03-26T06:49:24.595" v="93" actId="27636"/>
          <ac:spMkLst>
            <pc:docMk/>
            <pc:sldMk cId="1709737051" sldId="271"/>
            <ac:spMk id="3" creationId="{AC47E238-8B12-9A7D-D8E6-2A96DD5C07A3}"/>
          </ac:spMkLst>
        </pc:spChg>
      </pc:sldChg>
      <pc:sldChg chg="addSp delSp modSp new mod">
        <pc:chgData name="sanu mathew" userId="ec8c2f12682202a6" providerId="LiveId" clId="{05ADEA0A-BB2B-4313-8B38-3B2BF9CE5AE5}" dt="2026-03-26T06:49:34.513" v="94" actId="11"/>
        <pc:sldMkLst>
          <pc:docMk/>
          <pc:sldMk cId="3125523026" sldId="272"/>
        </pc:sldMkLst>
        <pc:spChg chg="add mod">
          <ac:chgData name="sanu mathew" userId="ec8c2f12682202a6" providerId="LiveId" clId="{05ADEA0A-BB2B-4313-8B38-3B2BF9CE5AE5}" dt="2026-03-26T06:48:33.011" v="91" actId="571"/>
          <ac:spMkLst>
            <pc:docMk/>
            <pc:sldMk cId="3125523026" sldId="272"/>
            <ac:spMk id="2" creationId="{2DBFEC6E-0FBC-8049-1995-E2AEB3401FDF}"/>
          </ac:spMkLst>
        </pc:spChg>
        <pc:spChg chg="del mod">
          <ac:chgData name="sanu mathew" userId="ec8c2f12682202a6" providerId="LiveId" clId="{05ADEA0A-BB2B-4313-8B38-3B2BF9CE5AE5}" dt="2026-03-25T16:30:28.322" v="59" actId="21"/>
          <ac:spMkLst>
            <pc:docMk/>
            <pc:sldMk cId="3125523026" sldId="272"/>
            <ac:spMk id="2" creationId="{CC7D708F-9862-820E-9AC2-605336034482}"/>
          </ac:spMkLst>
        </pc:spChg>
        <pc:spChg chg="mod">
          <ac:chgData name="sanu mathew" userId="ec8c2f12682202a6" providerId="LiveId" clId="{05ADEA0A-BB2B-4313-8B38-3B2BF9CE5AE5}" dt="2026-03-26T06:49:34.513" v="94" actId="11"/>
          <ac:spMkLst>
            <pc:docMk/>
            <pc:sldMk cId="3125523026" sldId="272"/>
            <ac:spMk id="3" creationId="{1CCB698F-C632-14FD-874B-BE52191F5CC6}"/>
          </ac:spMkLst>
        </pc:spChg>
      </pc:sldChg>
      <pc:sldChg chg="addSp delSp modSp new mod">
        <pc:chgData name="sanu mathew" userId="ec8c2f12682202a6" providerId="LiveId" clId="{05ADEA0A-BB2B-4313-8B38-3B2BF9CE5AE5}" dt="2026-03-26T07:10:59.294" v="301" actId="6549"/>
        <pc:sldMkLst>
          <pc:docMk/>
          <pc:sldMk cId="1053455324" sldId="273"/>
        </pc:sldMkLst>
        <pc:spChg chg="mod">
          <ac:chgData name="sanu mathew" userId="ec8c2f12682202a6" providerId="LiveId" clId="{05ADEA0A-BB2B-4313-8B38-3B2BF9CE5AE5}" dt="2026-03-26T07:10:50.372" v="299" actId="20577"/>
          <ac:spMkLst>
            <pc:docMk/>
            <pc:sldMk cId="1053455324" sldId="273"/>
            <ac:spMk id="2" creationId="{3EE5A4D7-C1F5-AE6C-B42F-D7DF7F661317}"/>
          </ac:spMkLst>
        </pc:spChg>
        <pc:spChg chg="del">
          <ac:chgData name="sanu mathew" userId="ec8c2f12682202a6" providerId="LiveId" clId="{05ADEA0A-BB2B-4313-8B38-3B2BF9CE5AE5}" dt="2026-03-26T06:51:49.438" v="96" actId="3680"/>
          <ac:spMkLst>
            <pc:docMk/>
            <pc:sldMk cId="1053455324" sldId="273"/>
            <ac:spMk id="3" creationId="{F954F56D-664C-9E88-D8D5-80110472D88E}"/>
          </ac:spMkLst>
        </pc:spChg>
        <pc:spChg chg="add mod">
          <ac:chgData name="sanu mathew" userId="ec8c2f12682202a6" providerId="LiveId" clId="{05ADEA0A-BB2B-4313-8B38-3B2BF9CE5AE5}" dt="2026-03-26T07:10:59.294" v="301" actId="6549"/>
          <ac:spMkLst>
            <pc:docMk/>
            <pc:sldMk cId="1053455324" sldId="273"/>
            <ac:spMk id="5" creationId="{0D1FA24D-75FB-AD3B-8DB9-2EE520D6C100}"/>
          </ac:spMkLst>
        </pc:spChg>
        <pc:spChg chg="add">
          <ac:chgData name="sanu mathew" userId="ec8c2f12682202a6" providerId="LiveId" clId="{05ADEA0A-BB2B-4313-8B38-3B2BF9CE5AE5}" dt="2026-03-26T07:05:54.887" v="200"/>
          <ac:spMkLst>
            <pc:docMk/>
            <pc:sldMk cId="1053455324" sldId="273"/>
            <ac:spMk id="6" creationId="{99BFDFDA-572C-1ACB-1EFA-E6BCF796F73C}"/>
          </ac:spMkLst>
        </pc:spChg>
        <pc:spChg chg="add">
          <ac:chgData name="sanu mathew" userId="ec8c2f12682202a6" providerId="LiveId" clId="{05ADEA0A-BB2B-4313-8B38-3B2BF9CE5AE5}" dt="2026-03-26T07:06:01.080" v="201"/>
          <ac:spMkLst>
            <pc:docMk/>
            <pc:sldMk cId="1053455324" sldId="273"/>
            <ac:spMk id="7" creationId="{354EB937-EAB1-C47F-C940-C8F2397864DC}"/>
          </ac:spMkLst>
        </pc:spChg>
        <pc:spChg chg="add del mod">
          <ac:chgData name="sanu mathew" userId="ec8c2f12682202a6" providerId="LiveId" clId="{05ADEA0A-BB2B-4313-8B38-3B2BF9CE5AE5}" dt="2026-03-26T07:10:01.445" v="286" actId="931"/>
          <ac:spMkLst>
            <pc:docMk/>
            <pc:sldMk cId="1053455324" sldId="273"/>
            <ac:spMk id="9" creationId="{C0B25623-ABF3-A4F6-AC9F-1171594E1B69}"/>
          </ac:spMkLst>
        </pc:spChg>
        <pc:graphicFrameChg chg="add del mod ord modGraphic">
          <ac:chgData name="sanu mathew" userId="ec8c2f12682202a6" providerId="LiveId" clId="{05ADEA0A-BB2B-4313-8B38-3B2BF9CE5AE5}" dt="2026-03-26T07:09:53.273" v="285" actId="478"/>
          <ac:graphicFrameMkLst>
            <pc:docMk/>
            <pc:sldMk cId="1053455324" sldId="273"/>
            <ac:graphicFrameMk id="4" creationId="{9EA4E682-AD57-32EB-FF64-66E7F3C9C3E2}"/>
          </ac:graphicFrameMkLst>
        </pc:graphicFrameChg>
        <pc:picChg chg="add mod ord">
          <ac:chgData name="sanu mathew" userId="ec8c2f12682202a6" providerId="LiveId" clId="{05ADEA0A-BB2B-4313-8B38-3B2BF9CE5AE5}" dt="2026-03-26T07:10:34.704" v="296" actId="1076"/>
          <ac:picMkLst>
            <pc:docMk/>
            <pc:sldMk cId="1053455324" sldId="273"/>
            <ac:picMk id="11" creationId="{F6B44FB1-D4AA-E16A-DAEB-14DD4DFB8E8D}"/>
          </ac:picMkLst>
        </pc:picChg>
      </pc:sldChg>
      <pc:sldChg chg="addSp delSp modSp new mod">
        <pc:chgData name="sanu mathew" userId="ec8c2f12682202a6" providerId="LiveId" clId="{05ADEA0A-BB2B-4313-8B38-3B2BF9CE5AE5}" dt="2026-03-26T07:14:50.682" v="399" actId="14100"/>
        <pc:sldMkLst>
          <pc:docMk/>
          <pc:sldMk cId="1878865545" sldId="274"/>
        </pc:sldMkLst>
        <pc:spChg chg="mod">
          <ac:chgData name="sanu mathew" userId="ec8c2f12682202a6" providerId="LiveId" clId="{05ADEA0A-BB2B-4313-8B38-3B2BF9CE5AE5}" dt="2026-03-26T07:12:00.354" v="322" actId="27636"/>
          <ac:spMkLst>
            <pc:docMk/>
            <pc:sldMk cId="1878865545" sldId="274"/>
            <ac:spMk id="2" creationId="{6EE3E7CC-8ED1-2540-2AA9-C89821AACA68}"/>
          </ac:spMkLst>
        </pc:spChg>
        <pc:spChg chg="del">
          <ac:chgData name="sanu mathew" userId="ec8c2f12682202a6" providerId="LiveId" clId="{05ADEA0A-BB2B-4313-8B38-3B2BF9CE5AE5}" dt="2026-03-26T07:12:04.745" v="323" actId="931"/>
          <ac:spMkLst>
            <pc:docMk/>
            <pc:sldMk cId="1878865545" sldId="274"/>
            <ac:spMk id="3" creationId="{A006D484-C775-98A5-F001-73B79B770E04}"/>
          </ac:spMkLst>
        </pc:spChg>
        <pc:spChg chg="add mod">
          <ac:chgData name="sanu mathew" userId="ec8c2f12682202a6" providerId="LiveId" clId="{05ADEA0A-BB2B-4313-8B38-3B2BF9CE5AE5}" dt="2026-03-26T07:14:50.682" v="399" actId="14100"/>
          <ac:spMkLst>
            <pc:docMk/>
            <pc:sldMk cId="1878865545" sldId="274"/>
            <ac:spMk id="6" creationId="{64969BBE-58AA-A7A7-F4C4-C7970CB937DD}"/>
          </ac:spMkLst>
        </pc:spChg>
        <pc:picChg chg="add mod ord">
          <ac:chgData name="sanu mathew" userId="ec8c2f12682202a6" providerId="LiveId" clId="{05ADEA0A-BB2B-4313-8B38-3B2BF9CE5AE5}" dt="2026-03-26T07:12:17.911" v="327" actId="14100"/>
          <ac:picMkLst>
            <pc:docMk/>
            <pc:sldMk cId="1878865545" sldId="274"/>
            <ac:picMk id="5" creationId="{CF4185A9-5B97-47E4-60D6-5488CBA1067C}"/>
          </ac:picMkLst>
        </pc:picChg>
      </pc:sldChg>
      <pc:sldChg chg="addSp delSp modSp new mod">
        <pc:chgData name="sanu mathew" userId="ec8c2f12682202a6" providerId="LiveId" clId="{05ADEA0A-BB2B-4313-8B38-3B2BF9CE5AE5}" dt="2026-03-26T07:19:33.299" v="535"/>
        <pc:sldMkLst>
          <pc:docMk/>
          <pc:sldMk cId="467742767" sldId="275"/>
        </pc:sldMkLst>
        <pc:spChg chg="mod">
          <ac:chgData name="sanu mathew" userId="ec8c2f12682202a6" providerId="LiveId" clId="{05ADEA0A-BB2B-4313-8B38-3B2BF9CE5AE5}" dt="2026-03-26T07:16:18.108" v="428" actId="20577"/>
          <ac:spMkLst>
            <pc:docMk/>
            <pc:sldMk cId="467742767" sldId="275"/>
            <ac:spMk id="2" creationId="{9D72AB83-0E5D-6EF5-EA4D-D33D7E465B56}"/>
          </ac:spMkLst>
        </pc:spChg>
        <pc:spChg chg="del">
          <ac:chgData name="sanu mathew" userId="ec8c2f12682202a6" providerId="LiveId" clId="{05ADEA0A-BB2B-4313-8B38-3B2BF9CE5AE5}" dt="2026-03-26T07:16:24.516" v="429" actId="931"/>
          <ac:spMkLst>
            <pc:docMk/>
            <pc:sldMk cId="467742767" sldId="275"/>
            <ac:spMk id="3" creationId="{9BDAC9A8-C78F-3773-E6B3-E91F4A08E8FC}"/>
          </ac:spMkLst>
        </pc:spChg>
        <pc:spChg chg="add mod">
          <ac:chgData name="sanu mathew" userId="ec8c2f12682202a6" providerId="LiveId" clId="{05ADEA0A-BB2B-4313-8B38-3B2BF9CE5AE5}" dt="2026-03-26T07:19:33.299" v="535"/>
          <ac:spMkLst>
            <pc:docMk/>
            <pc:sldMk cId="467742767" sldId="275"/>
            <ac:spMk id="6" creationId="{2C68D2E5-A4A6-A355-8597-47286EF126BF}"/>
          </ac:spMkLst>
        </pc:spChg>
        <pc:picChg chg="add mod ord">
          <ac:chgData name="sanu mathew" userId="ec8c2f12682202a6" providerId="LiveId" clId="{05ADEA0A-BB2B-4313-8B38-3B2BF9CE5AE5}" dt="2026-03-26T07:16:44.277" v="434" actId="14100"/>
          <ac:picMkLst>
            <pc:docMk/>
            <pc:sldMk cId="467742767" sldId="275"/>
            <ac:picMk id="5" creationId="{6EE1620C-B0AC-CFBC-42FE-BB3B32038518}"/>
          </ac:picMkLst>
        </pc:picChg>
      </pc:sldChg>
      <pc:sldChg chg="addSp delSp modSp new mod">
        <pc:chgData name="sanu mathew" userId="ec8c2f12682202a6" providerId="LiveId" clId="{05ADEA0A-BB2B-4313-8B38-3B2BF9CE5AE5}" dt="2026-03-26T07:23:26.300" v="634"/>
        <pc:sldMkLst>
          <pc:docMk/>
          <pc:sldMk cId="897700219" sldId="276"/>
        </pc:sldMkLst>
        <pc:spChg chg="mod">
          <ac:chgData name="sanu mathew" userId="ec8c2f12682202a6" providerId="LiveId" clId="{05ADEA0A-BB2B-4313-8B38-3B2BF9CE5AE5}" dt="2026-03-26T07:20:59.521" v="561" actId="20577"/>
          <ac:spMkLst>
            <pc:docMk/>
            <pc:sldMk cId="897700219" sldId="276"/>
            <ac:spMk id="2" creationId="{EA786202-6F02-5EA1-7EF3-A2251D64CC6C}"/>
          </ac:spMkLst>
        </pc:spChg>
        <pc:spChg chg="del">
          <ac:chgData name="sanu mathew" userId="ec8c2f12682202a6" providerId="LiveId" clId="{05ADEA0A-BB2B-4313-8B38-3B2BF9CE5AE5}" dt="2026-03-26T07:21:04.600" v="562" actId="931"/>
          <ac:spMkLst>
            <pc:docMk/>
            <pc:sldMk cId="897700219" sldId="276"/>
            <ac:spMk id="3" creationId="{04A837D5-DD3F-A7EA-0D85-4DC97FE91081}"/>
          </ac:spMkLst>
        </pc:spChg>
        <pc:spChg chg="add mod">
          <ac:chgData name="sanu mathew" userId="ec8c2f12682202a6" providerId="LiveId" clId="{05ADEA0A-BB2B-4313-8B38-3B2BF9CE5AE5}" dt="2026-03-26T07:23:26.300" v="634"/>
          <ac:spMkLst>
            <pc:docMk/>
            <pc:sldMk cId="897700219" sldId="276"/>
            <ac:spMk id="6" creationId="{DACCDB61-1A83-3E5F-6CBC-7964DC3CCA5F}"/>
          </ac:spMkLst>
        </pc:spChg>
        <pc:picChg chg="add mod ord">
          <ac:chgData name="sanu mathew" userId="ec8c2f12682202a6" providerId="LiveId" clId="{05ADEA0A-BB2B-4313-8B38-3B2BF9CE5AE5}" dt="2026-03-26T07:21:09.022" v="563" actId="1076"/>
          <ac:picMkLst>
            <pc:docMk/>
            <pc:sldMk cId="897700219" sldId="276"/>
            <ac:picMk id="5" creationId="{0E7102C0-AFA1-46BC-0EC7-FDFFF2251A57}"/>
          </ac:picMkLst>
        </pc:picChg>
      </pc:sldChg>
      <pc:sldChg chg="addSp delSp modSp new mod">
        <pc:chgData name="sanu mathew" userId="ec8c2f12682202a6" providerId="LiveId" clId="{05ADEA0A-BB2B-4313-8B38-3B2BF9CE5AE5}" dt="2026-03-26T07:26:54.935" v="739"/>
        <pc:sldMkLst>
          <pc:docMk/>
          <pc:sldMk cId="2061133017" sldId="277"/>
        </pc:sldMkLst>
        <pc:spChg chg="mod">
          <ac:chgData name="sanu mathew" userId="ec8c2f12682202a6" providerId="LiveId" clId="{05ADEA0A-BB2B-4313-8B38-3B2BF9CE5AE5}" dt="2026-03-26T07:24:34.098" v="660" actId="14100"/>
          <ac:spMkLst>
            <pc:docMk/>
            <pc:sldMk cId="2061133017" sldId="277"/>
            <ac:spMk id="2" creationId="{917A25E9-91B2-810A-01FA-DB1723D0ECAE}"/>
          </ac:spMkLst>
        </pc:spChg>
        <pc:spChg chg="del">
          <ac:chgData name="sanu mathew" userId="ec8c2f12682202a6" providerId="LiveId" clId="{05ADEA0A-BB2B-4313-8B38-3B2BF9CE5AE5}" dt="2026-03-26T07:24:38.211" v="661" actId="931"/>
          <ac:spMkLst>
            <pc:docMk/>
            <pc:sldMk cId="2061133017" sldId="277"/>
            <ac:spMk id="3" creationId="{CD222C55-6E61-CEF9-B3DA-C86393CEA3C9}"/>
          </ac:spMkLst>
        </pc:spChg>
        <pc:spChg chg="add mod">
          <ac:chgData name="sanu mathew" userId="ec8c2f12682202a6" providerId="LiveId" clId="{05ADEA0A-BB2B-4313-8B38-3B2BF9CE5AE5}" dt="2026-03-26T07:26:54.935" v="739"/>
          <ac:spMkLst>
            <pc:docMk/>
            <pc:sldMk cId="2061133017" sldId="277"/>
            <ac:spMk id="6" creationId="{8DD51CB0-B786-C57C-DCDD-41FD5A491389}"/>
          </ac:spMkLst>
        </pc:spChg>
        <pc:picChg chg="add mod ord">
          <ac:chgData name="sanu mathew" userId="ec8c2f12682202a6" providerId="LiveId" clId="{05ADEA0A-BB2B-4313-8B38-3B2BF9CE5AE5}" dt="2026-03-26T07:24:41.114" v="662" actId="1076"/>
          <ac:picMkLst>
            <pc:docMk/>
            <pc:sldMk cId="2061133017" sldId="277"/>
            <ac:picMk id="5" creationId="{A6287A2F-3CA2-B2C5-CFBE-B4638C9E2312}"/>
          </ac:picMkLst>
        </pc:picChg>
      </pc:sldChg>
      <pc:sldChg chg="addSp delSp modSp new mod">
        <pc:chgData name="sanu mathew" userId="ec8c2f12682202a6" providerId="LiveId" clId="{05ADEA0A-BB2B-4313-8B38-3B2BF9CE5AE5}" dt="2026-03-26T07:30:40.736" v="852"/>
        <pc:sldMkLst>
          <pc:docMk/>
          <pc:sldMk cId="197778385" sldId="278"/>
        </pc:sldMkLst>
        <pc:spChg chg="mod">
          <ac:chgData name="sanu mathew" userId="ec8c2f12682202a6" providerId="LiveId" clId="{05ADEA0A-BB2B-4313-8B38-3B2BF9CE5AE5}" dt="2026-03-26T07:28:46.720" v="771" actId="20577"/>
          <ac:spMkLst>
            <pc:docMk/>
            <pc:sldMk cId="197778385" sldId="278"/>
            <ac:spMk id="2" creationId="{CDF986E9-AC3A-A73E-2C35-FDEF0F3468D8}"/>
          </ac:spMkLst>
        </pc:spChg>
        <pc:spChg chg="del">
          <ac:chgData name="sanu mathew" userId="ec8c2f12682202a6" providerId="LiveId" clId="{05ADEA0A-BB2B-4313-8B38-3B2BF9CE5AE5}" dt="2026-03-26T07:28:50.922" v="772" actId="931"/>
          <ac:spMkLst>
            <pc:docMk/>
            <pc:sldMk cId="197778385" sldId="278"/>
            <ac:spMk id="3" creationId="{B3C41437-23BF-7A24-D1F8-FFB09538252F}"/>
          </ac:spMkLst>
        </pc:spChg>
        <pc:spChg chg="add mod">
          <ac:chgData name="sanu mathew" userId="ec8c2f12682202a6" providerId="LiveId" clId="{05ADEA0A-BB2B-4313-8B38-3B2BF9CE5AE5}" dt="2026-03-26T07:30:40.736" v="852"/>
          <ac:spMkLst>
            <pc:docMk/>
            <pc:sldMk cId="197778385" sldId="278"/>
            <ac:spMk id="6" creationId="{E0B2EB10-6AF5-F2A4-BD93-6E03FFCA675E}"/>
          </ac:spMkLst>
        </pc:spChg>
        <pc:picChg chg="add mod ord">
          <ac:chgData name="sanu mathew" userId="ec8c2f12682202a6" providerId="LiveId" clId="{05ADEA0A-BB2B-4313-8B38-3B2BF9CE5AE5}" dt="2026-03-26T07:28:54.395" v="773" actId="1076"/>
          <ac:picMkLst>
            <pc:docMk/>
            <pc:sldMk cId="197778385" sldId="278"/>
            <ac:picMk id="5" creationId="{246397C6-2C5E-3A11-9AEE-C9680880ED79}"/>
          </ac:picMkLst>
        </pc:picChg>
      </pc:sldChg>
      <pc:sldChg chg="addSp delSp modSp new mod">
        <pc:chgData name="sanu mathew" userId="ec8c2f12682202a6" providerId="LiveId" clId="{05ADEA0A-BB2B-4313-8B38-3B2BF9CE5AE5}" dt="2026-03-26T07:34:08.023" v="891" actId="12"/>
        <pc:sldMkLst>
          <pc:docMk/>
          <pc:sldMk cId="424585144" sldId="279"/>
        </pc:sldMkLst>
        <pc:spChg chg="mod">
          <ac:chgData name="sanu mathew" userId="ec8c2f12682202a6" providerId="LiveId" clId="{05ADEA0A-BB2B-4313-8B38-3B2BF9CE5AE5}" dt="2026-03-26T07:31:43.450" v="874" actId="27636"/>
          <ac:spMkLst>
            <pc:docMk/>
            <pc:sldMk cId="424585144" sldId="279"/>
            <ac:spMk id="2" creationId="{0C17E18C-8ED2-D920-D388-2051D5C7F9D3}"/>
          </ac:spMkLst>
        </pc:spChg>
        <pc:spChg chg="add del mod">
          <ac:chgData name="sanu mathew" userId="ec8c2f12682202a6" providerId="LiveId" clId="{05ADEA0A-BB2B-4313-8B38-3B2BF9CE5AE5}" dt="2026-03-26T07:34:08.023" v="891" actId="12"/>
          <ac:spMkLst>
            <pc:docMk/>
            <pc:sldMk cId="424585144" sldId="279"/>
            <ac:spMk id="3" creationId="{06D62B42-F9CB-1E0B-D2CE-A8F56BFAEF5F}"/>
          </ac:spMkLst>
        </pc:spChg>
        <pc:spChg chg="add mod">
          <ac:chgData name="sanu mathew" userId="ec8c2f12682202a6" providerId="LiveId" clId="{05ADEA0A-BB2B-4313-8B38-3B2BF9CE5AE5}" dt="2026-03-26T07:33:12.190" v="876"/>
          <ac:spMkLst>
            <pc:docMk/>
            <pc:sldMk cId="424585144" sldId="279"/>
            <ac:spMk id="4" creationId="{5BD5B6C2-534B-E095-2CAF-E93D48EDB1CD}"/>
          </ac:spMkLst>
        </pc:spChg>
        <pc:spChg chg="add mod">
          <ac:chgData name="sanu mathew" userId="ec8c2f12682202a6" providerId="LiveId" clId="{05ADEA0A-BB2B-4313-8B38-3B2BF9CE5AE5}" dt="2026-03-26T07:33:27.679" v="880"/>
          <ac:spMkLst>
            <pc:docMk/>
            <pc:sldMk cId="424585144" sldId="279"/>
            <ac:spMk id="5" creationId="{5431115D-EFB6-AC88-AC8F-703D15BD45A1}"/>
          </ac:spMkLst>
        </pc:spChg>
      </pc:sldChg>
      <pc:sldChg chg="addSp delSp modSp new mod">
        <pc:chgData name="sanu mathew" userId="ec8c2f12682202a6" providerId="LiveId" clId="{05ADEA0A-BB2B-4313-8B38-3B2BF9CE5AE5}" dt="2026-03-26T07:37:35.487" v="943"/>
        <pc:sldMkLst>
          <pc:docMk/>
          <pc:sldMk cId="841809881" sldId="280"/>
        </pc:sldMkLst>
        <pc:spChg chg="mod">
          <ac:chgData name="sanu mathew" userId="ec8c2f12682202a6" providerId="LiveId" clId="{05ADEA0A-BB2B-4313-8B38-3B2BF9CE5AE5}" dt="2026-03-26T07:36:50.894" v="927" actId="1076"/>
          <ac:spMkLst>
            <pc:docMk/>
            <pc:sldMk cId="841809881" sldId="280"/>
            <ac:spMk id="2" creationId="{11F4963B-B6BB-B1AD-388C-ADE6C023041C}"/>
          </ac:spMkLst>
        </pc:spChg>
        <pc:spChg chg="del mod">
          <ac:chgData name="sanu mathew" userId="ec8c2f12682202a6" providerId="LiveId" clId="{05ADEA0A-BB2B-4313-8B38-3B2BF9CE5AE5}" dt="2026-03-26T07:36:44.786" v="925" actId="931"/>
          <ac:spMkLst>
            <pc:docMk/>
            <pc:sldMk cId="841809881" sldId="280"/>
            <ac:spMk id="3" creationId="{624CEDFD-7E2D-9C93-6FF1-D1C8221C6486}"/>
          </ac:spMkLst>
        </pc:spChg>
        <pc:spChg chg="add mod">
          <ac:chgData name="sanu mathew" userId="ec8c2f12682202a6" providerId="LiveId" clId="{05ADEA0A-BB2B-4313-8B38-3B2BF9CE5AE5}" dt="2026-03-26T07:37:35.487" v="943"/>
          <ac:spMkLst>
            <pc:docMk/>
            <pc:sldMk cId="841809881" sldId="280"/>
            <ac:spMk id="6" creationId="{3FC6C368-4096-A49B-2790-BE4B6DA1EA56}"/>
          </ac:spMkLst>
        </pc:spChg>
        <pc:picChg chg="add mod ord">
          <ac:chgData name="sanu mathew" userId="ec8c2f12682202a6" providerId="LiveId" clId="{05ADEA0A-BB2B-4313-8B38-3B2BF9CE5AE5}" dt="2026-03-26T07:36:47.312" v="926" actId="1076"/>
          <ac:picMkLst>
            <pc:docMk/>
            <pc:sldMk cId="841809881" sldId="280"/>
            <ac:picMk id="5" creationId="{8528CCBD-1D24-B6D6-1C77-C7D501F24CBB}"/>
          </ac:picMkLst>
        </pc:picChg>
      </pc:sldChg>
      <pc:sldChg chg="addSp delSp modSp new mod">
        <pc:chgData name="sanu mathew" userId="ec8c2f12682202a6" providerId="LiveId" clId="{05ADEA0A-BB2B-4313-8B38-3B2BF9CE5AE5}" dt="2026-03-26T08:01:05.005" v="1447" actId="20577"/>
        <pc:sldMkLst>
          <pc:docMk/>
          <pc:sldMk cId="335218211" sldId="281"/>
        </pc:sldMkLst>
        <pc:spChg chg="del mod">
          <ac:chgData name="sanu mathew" userId="ec8c2f12682202a6" providerId="LiveId" clId="{05ADEA0A-BB2B-4313-8B38-3B2BF9CE5AE5}" dt="2026-03-26T07:42:40.011" v="946" actId="21"/>
          <ac:spMkLst>
            <pc:docMk/>
            <pc:sldMk cId="335218211" sldId="281"/>
            <ac:spMk id="2" creationId="{3E16E2C0-894A-E807-B644-3243E8C49595}"/>
          </ac:spMkLst>
        </pc:spChg>
        <pc:spChg chg="del mod">
          <ac:chgData name="sanu mathew" userId="ec8c2f12682202a6" providerId="LiveId" clId="{05ADEA0A-BB2B-4313-8B38-3B2BF9CE5AE5}" dt="2026-03-26T07:42:55.420" v="950"/>
          <ac:spMkLst>
            <pc:docMk/>
            <pc:sldMk cId="335218211" sldId="281"/>
            <ac:spMk id="3" creationId="{536E8B53-5D69-508C-C160-4A5B547333E5}"/>
          </ac:spMkLst>
        </pc:spChg>
        <pc:spChg chg="add mod">
          <ac:chgData name="sanu mathew" userId="ec8c2f12682202a6" providerId="LiveId" clId="{05ADEA0A-BB2B-4313-8B38-3B2BF9CE5AE5}" dt="2026-03-26T08:01:05.005" v="1447" actId="20577"/>
          <ac:spMkLst>
            <pc:docMk/>
            <pc:sldMk cId="335218211" sldId="281"/>
            <ac:spMk id="4" creationId="{3E16E2C0-894A-E807-B644-3243E8C49595}"/>
          </ac:spMkLst>
        </pc:spChg>
      </pc:sldChg>
      <pc:sldChg chg="delSp modSp new mod">
        <pc:chgData name="sanu mathew" userId="ec8c2f12682202a6" providerId="LiveId" clId="{05ADEA0A-BB2B-4313-8B38-3B2BF9CE5AE5}" dt="2026-03-26T16:51:41.387" v="4635" actId="113"/>
        <pc:sldMkLst>
          <pc:docMk/>
          <pc:sldMk cId="1132225716" sldId="282"/>
        </pc:sldMkLst>
        <pc:spChg chg="del">
          <ac:chgData name="sanu mathew" userId="ec8c2f12682202a6" providerId="LiveId" clId="{05ADEA0A-BB2B-4313-8B38-3B2BF9CE5AE5}" dt="2026-03-26T07:50:48.634" v="991" actId="21"/>
          <ac:spMkLst>
            <pc:docMk/>
            <pc:sldMk cId="1132225716" sldId="282"/>
            <ac:spMk id="2" creationId="{6B7215A6-B294-4A9E-A64D-3D7EBE73FBFB}"/>
          </ac:spMkLst>
        </pc:spChg>
        <pc:spChg chg="mod">
          <ac:chgData name="sanu mathew" userId="ec8c2f12682202a6" providerId="LiveId" clId="{05ADEA0A-BB2B-4313-8B38-3B2BF9CE5AE5}" dt="2026-03-26T16:51:41.387" v="4635" actId="113"/>
          <ac:spMkLst>
            <pc:docMk/>
            <pc:sldMk cId="1132225716" sldId="282"/>
            <ac:spMk id="3" creationId="{6A3DD40A-96BE-FD93-29B7-0E0E13BCB88F}"/>
          </ac:spMkLst>
        </pc:spChg>
      </pc:sldChg>
      <pc:sldChg chg="addSp modSp new mod">
        <pc:chgData name="sanu mathew" userId="ec8c2f12682202a6" providerId="LiveId" clId="{05ADEA0A-BB2B-4313-8B38-3B2BF9CE5AE5}" dt="2026-03-26T14:56:19.634" v="2146" actId="6549"/>
        <pc:sldMkLst>
          <pc:docMk/>
          <pc:sldMk cId="984670015" sldId="283"/>
        </pc:sldMkLst>
        <pc:spChg chg="mod">
          <ac:chgData name="sanu mathew" userId="ec8c2f12682202a6" providerId="LiveId" clId="{05ADEA0A-BB2B-4313-8B38-3B2BF9CE5AE5}" dt="2026-03-26T14:49:14.095" v="2007" actId="14100"/>
          <ac:spMkLst>
            <pc:docMk/>
            <pc:sldMk cId="984670015" sldId="283"/>
            <ac:spMk id="2" creationId="{4F35D939-6F9C-45FE-53D2-6BD726505B09}"/>
          </ac:spMkLst>
        </pc:spChg>
        <pc:spChg chg="mod">
          <ac:chgData name="sanu mathew" userId="ec8c2f12682202a6" providerId="LiveId" clId="{05ADEA0A-BB2B-4313-8B38-3B2BF9CE5AE5}" dt="2026-03-26T14:56:19.634" v="2146" actId="6549"/>
          <ac:spMkLst>
            <pc:docMk/>
            <pc:sldMk cId="984670015" sldId="283"/>
            <ac:spMk id="3" creationId="{E1CA2F2C-0589-3529-7307-24D1B33C4622}"/>
          </ac:spMkLst>
        </pc:spChg>
        <pc:spChg chg="add">
          <ac:chgData name="sanu mathew" userId="ec8c2f12682202a6" providerId="LiveId" clId="{05ADEA0A-BB2B-4313-8B38-3B2BF9CE5AE5}" dt="2026-03-26T14:50:19.104" v="2057"/>
          <ac:spMkLst>
            <pc:docMk/>
            <pc:sldMk cId="984670015" sldId="283"/>
            <ac:spMk id="4" creationId="{5259BAF2-C0E9-7656-8517-DA1F107A7E5D}"/>
          </ac:spMkLst>
        </pc:spChg>
        <pc:spChg chg="add">
          <ac:chgData name="sanu mathew" userId="ec8c2f12682202a6" providerId="LiveId" clId="{05ADEA0A-BB2B-4313-8B38-3B2BF9CE5AE5}" dt="2026-03-26T14:50:22.040" v="2058"/>
          <ac:spMkLst>
            <pc:docMk/>
            <pc:sldMk cId="984670015" sldId="283"/>
            <ac:spMk id="5" creationId="{35DE9337-5DCC-6B60-B605-B85F45B38659}"/>
          </ac:spMkLst>
        </pc:spChg>
        <pc:spChg chg="add">
          <ac:chgData name="sanu mathew" userId="ec8c2f12682202a6" providerId="LiveId" clId="{05ADEA0A-BB2B-4313-8B38-3B2BF9CE5AE5}" dt="2026-03-26T14:50:23.819" v="2059"/>
          <ac:spMkLst>
            <pc:docMk/>
            <pc:sldMk cId="984670015" sldId="283"/>
            <ac:spMk id="6" creationId="{AB759E6B-FD32-0484-9155-3578E779B54A}"/>
          </ac:spMkLst>
        </pc:spChg>
      </pc:sldChg>
      <pc:sldChg chg="addSp modSp new mod">
        <pc:chgData name="sanu mathew" userId="ec8c2f12682202a6" providerId="LiveId" clId="{05ADEA0A-BB2B-4313-8B38-3B2BF9CE5AE5}" dt="2026-03-26T15:05:07.342" v="2432" actId="20577"/>
        <pc:sldMkLst>
          <pc:docMk/>
          <pc:sldMk cId="387915909" sldId="284"/>
        </pc:sldMkLst>
        <pc:spChg chg="mod">
          <ac:chgData name="sanu mathew" userId="ec8c2f12682202a6" providerId="LiveId" clId="{05ADEA0A-BB2B-4313-8B38-3B2BF9CE5AE5}" dt="2026-03-26T08:13:10.961" v="1931" actId="20577"/>
          <ac:spMkLst>
            <pc:docMk/>
            <pc:sldMk cId="387915909" sldId="284"/>
            <ac:spMk id="2" creationId="{5664B2AE-53EA-E7D2-E837-DC4266C2F653}"/>
          </ac:spMkLst>
        </pc:spChg>
        <pc:spChg chg="mod">
          <ac:chgData name="sanu mathew" userId="ec8c2f12682202a6" providerId="LiveId" clId="{05ADEA0A-BB2B-4313-8B38-3B2BF9CE5AE5}" dt="2026-03-26T15:05:07.342" v="2432" actId="20577"/>
          <ac:spMkLst>
            <pc:docMk/>
            <pc:sldMk cId="387915909" sldId="284"/>
            <ac:spMk id="3" creationId="{A3681D37-6F05-7922-B77B-8E4562FBA4DC}"/>
          </ac:spMkLst>
        </pc:spChg>
        <pc:spChg chg="add">
          <ac:chgData name="sanu mathew" userId="ec8c2f12682202a6" providerId="LiveId" clId="{05ADEA0A-BB2B-4313-8B38-3B2BF9CE5AE5}" dt="2026-03-26T14:59:08.533" v="2163"/>
          <ac:spMkLst>
            <pc:docMk/>
            <pc:sldMk cId="387915909" sldId="284"/>
            <ac:spMk id="4" creationId="{1AA129D0-C59D-1688-B67B-05F25FB5EA03}"/>
          </ac:spMkLst>
        </pc:spChg>
        <pc:spChg chg="add">
          <ac:chgData name="sanu mathew" userId="ec8c2f12682202a6" providerId="LiveId" clId="{05ADEA0A-BB2B-4313-8B38-3B2BF9CE5AE5}" dt="2026-03-26T14:59:12.788" v="2166"/>
          <ac:spMkLst>
            <pc:docMk/>
            <pc:sldMk cId="387915909" sldId="284"/>
            <ac:spMk id="5" creationId="{B4B07756-6CC1-832C-E40E-4B4D00248C9A}"/>
          </ac:spMkLst>
        </pc:spChg>
      </pc:sldChg>
      <pc:sldChg chg="delSp modSp new del mod">
        <pc:chgData name="sanu mathew" userId="ec8c2f12682202a6" providerId="LiveId" clId="{05ADEA0A-BB2B-4313-8B38-3B2BF9CE5AE5}" dt="2026-03-26T15:13:50.913" v="3046" actId="2696"/>
        <pc:sldMkLst>
          <pc:docMk/>
          <pc:sldMk cId="2341861553" sldId="285"/>
        </pc:sldMkLst>
        <pc:spChg chg="del">
          <ac:chgData name="sanu mathew" userId="ec8c2f12682202a6" providerId="LiveId" clId="{05ADEA0A-BB2B-4313-8B38-3B2BF9CE5AE5}" dt="2026-03-26T08:15:00.017" v="1953" actId="21"/>
          <ac:spMkLst>
            <pc:docMk/>
            <pc:sldMk cId="2341861553" sldId="285"/>
            <ac:spMk id="2" creationId="{0C7DC7DE-4E91-8A3E-66F8-1ED683671D20}"/>
          </ac:spMkLst>
        </pc:spChg>
        <pc:spChg chg="mod">
          <ac:chgData name="sanu mathew" userId="ec8c2f12682202a6" providerId="LiveId" clId="{05ADEA0A-BB2B-4313-8B38-3B2BF9CE5AE5}" dt="2026-03-26T15:13:29.386" v="3045" actId="6549"/>
          <ac:spMkLst>
            <pc:docMk/>
            <pc:sldMk cId="2341861553" sldId="285"/>
            <ac:spMk id="3" creationId="{CB2FFAC0-2E2C-54EC-1685-875AFFB359EF}"/>
          </ac:spMkLst>
        </pc:spChg>
      </pc:sldChg>
      <pc:sldChg chg="addSp delSp modSp new mod">
        <pc:chgData name="sanu mathew" userId="ec8c2f12682202a6" providerId="LiveId" clId="{05ADEA0A-BB2B-4313-8B38-3B2BF9CE5AE5}" dt="2026-03-26T14:56:39.824" v="2149" actId="6549"/>
        <pc:sldMkLst>
          <pc:docMk/>
          <pc:sldMk cId="620833222" sldId="286"/>
        </pc:sldMkLst>
        <pc:spChg chg="del">
          <ac:chgData name="sanu mathew" userId="ec8c2f12682202a6" providerId="LiveId" clId="{05ADEA0A-BB2B-4313-8B38-3B2BF9CE5AE5}" dt="2026-03-26T14:52:40.673" v="2096" actId="21"/>
          <ac:spMkLst>
            <pc:docMk/>
            <pc:sldMk cId="620833222" sldId="286"/>
            <ac:spMk id="2" creationId="{56E05326-7976-FBA7-6F08-8DD1E25E944D}"/>
          </ac:spMkLst>
        </pc:spChg>
        <pc:spChg chg="add del mod">
          <ac:chgData name="sanu mathew" userId="ec8c2f12682202a6" providerId="LiveId" clId="{05ADEA0A-BB2B-4313-8B38-3B2BF9CE5AE5}" dt="2026-03-26T14:52:57.940" v="2101"/>
          <ac:spMkLst>
            <pc:docMk/>
            <pc:sldMk cId="620833222" sldId="286"/>
            <ac:spMk id="3" creationId="{35698930-AE44-E4A5-97A6-5B6B38D88D40}"/>
          </ac:spMkLst>
        </pc:spChg>
        <pc:spChg chg="add mod">
          <ac:chgData name="sanu mathew" userId="ec8c2f12682202a6" providerId="LiveId" clId="{05ADEA0A-BB2B-4313-8B38-3B2BF9CE5AE5}" dt="2026-03-26T14:52:56.904" v="2100"/>
          <ac:spMkLst>
            <pc:docMk/>
            <pc:sldMk cId="620833222" sldId="286"/>
            <ac:spMk id="4" creationId="{56E05326-7976-FBA7-6F08-8DD1E25E944D}"/>
          </ac:spMkLst>
        </pc:spChg>
        <pc:spChg chg="add mod">
          <ac:chgData name="sanu mathew" userId="ec8c2f12682202a6" providerId="LiveId" clId="{05ADEA0A-BB2B-4313-8B38-3B2BF9CE5AE5}" dt="2026-03-26T14:56:39.824" v="2149" actId="6549"/>
          <ac:spMkLst>
            <pc:docMk/>
            <pc:sldMk cId="620833222" sldId="286"/>
            <ac:spMk id="5" creationId="{57009E73-1FCB-D152-DD30-2DA3B8D729EE}"/>
          </ac:spMkLst>
        </pc:spChg>
      </pc:sldChg>
      <pc:sldChg chg="addSp delSp modSp new mod">
        <pc:chgData name="sanu mathew" userId="ec8c2f12682202a6" providerId="LiveId" clId="{05ADEA0A-BB2B-4313-8B38-3B2BF9CE5AE5}" dt="2026-03-26T15:11:58.772" v="3044" actId="113"/>
        <pc:sldMkLst>
          <pc:docMk/>
          <pc:sldMk cId="427117256" sldId="287"/>
        </pc:sldMkLst>
        <pc:spChg chg="del">
          <ac:chgData name="sanu mathew" userId="ec8c2f12682202a6" providerId="LiveId" clId="{05ADEA0A-BB2B-4313-8B38-3B2BF9CE5AE5}" dt="2026-03-26T15:05:15.942" v="2434" actId="21"/>
          <ac:spMkLst>
            <pc:docMk/>
            <pc:sldMk cId="427117256" sldId="287"/>
            <ac:spMk id="2" creationId="{CC8B4C30-822C-A042-501C-10FEBFB367BC}"/>
          </ac:spMkLst>
        </pc:spChg>
        <pc:spChg chg="mod">
          <ac:chgData name="sanu mathew" userId="ec8c2f12682202a6" providerId="LiveId" clId="{05ADEA0A-BB2B-4313-8B38-3B2BF9CE5AE5}" dt="2026-03-26T15:11:58.772" v="3044" actId="113"/>
          <ac:spMkLst>
            <pc:docMk/>
            <pc:sldMk cId="427117256" sldId="287"/>
            <ac:spMk id="3" creationId="{E62EAE1F-C2CC-8270-B5FD-AA29F6FD5D18}"/>
          </ac:spMkLst>
        </pc:spChg>
        <pc:spChg chg="add mod">
          <ac:chgData name="sanu mathew" userId="ec8c2f12682202a6" providerId="LiveId" clId="{05ADEA0A-BB2B-4313-8B38-3B2BF9CE5AE5}" dt="2026-03-26T15:07:30.010" v="2645"/>
          <ac:spMkLst>
            <pc:docMk/>
            <pc:sldMk cId="427117256" sldId="287"/>
            <ac:spMk id="4" creationId="{CC8B4C30-822C-A042-501C-10FEBFB367BC}"/>
          </ac:spMkLst>
        </pc:spChg>
        <pc:spChg chg="add mod">
          <ac:chgData name="sanu mathew" userId="ec8c2f12682202a6" providerId="LiveId" clId="{05ADEA0A-BB2B-4313-8B38-3B2BF9CE5AE5}" dt="2026-03-26T15:07:34.168" v="2646"/>
          <ac:spMkLst>
            <pc:docMk/>
            <pc:sldMk cId="427117256" sldId="287"/>
            <ac:spMk id="5" creationId="{29F9B5D9-80B1-5931-3CF5-26F44F1227B2}"/>
          </ac:spMkLst>
        </pc:spChg>
      </pc:sldChg>
      <pc:sldChg chg="modSp new mod">
        <pc:chgData name="sanu mathew" userId="ec8c2f12682202a6" providerId="LiveId" clId="{05ADEA0A-BB2B-4313-8B38-3B2BF9CE5AE5}" dt="2026-03-26T15:18:15.283" v="3583" actId="20577"/>
        <pc:sldMkLst>
          <pc:docMk/>
          <pc:sldMk cId="3987544380" sldId="288"/>
        </pc:sldMkLst>
        <pc:spChg chg="mod">
          <ac:chgData name="sanu mathew" userId="ec8c2f12682202a6" providerId="LiveId" clId="{05ADEA0A-BB2B-4313-8B38-3B2BF9CE5AE5}" dt="2026-03-26T15:14:13.979" v="3072" actId="20577"/>
          <ac:spMkLst>
            <pc:docMk/>
            <pc:sldMk cId="3987544380" sldId="288"/>
            <ac:spMk id="2" creationId="{11CF151D-C080-1BE5-CF2F-62681921BFF5}"/>
          </ac:spMkLst>
        </pc:spChg>
        <pc:spChg chg="mod">
          <ac:chgData name="sanu mathew" userId="ec8c2f12682202a6" providerId="LiveId" clId="{05ADEA0A-BB2B-4313-8B38-3B2BF9CE5AE5}" dt="2026-03-26T15:18:15.283" v="3583" actId="20577"/>
          <ac:spMkLst>
            <pc:docMk/>
            <pc:sldMk cId="3987544380" sldId="288"/>
            <ac:spMk id="3" creationId="{EE2A68BA-41EF-3D37-BCC7-3976AF796D74}"/>
          </ac:spMkLst>
        </pc:spChg>
      </pc:sldChg>
      <pc:sldChg chg="addSp delSp modSp new mod">
        <pc:chgData name="sanu mathew" userId="ec8c2f12682202a6" providerId="LiveId" clId="{05ADEA0A-BB2B-4313-8B38-3B2BF9CE5AE5}" dt="2026-03-26T15:28:50.103" v="4276" actId="6549"/>
        <pc:sldMkLst>
          <pc:docMk/>
          <pc:sldMk cId="2275336071" sldId="289"/>
        </pc:sldMkLst>
        <pc:spChg chg="mod">
          <ac:chgData name="sanu mathew" userId="ec8c2f12682202a6" providerId="LiveId" clId="{05ADEA0A-BB2B-4313-8B38-3B2BF9CE5AE5}" dt="2026-03-26T15:22:16.529" v="3618" actId="27636"/>
          <ac:spMkLst>
            <pc:docMk/>
            <pc:sldMk cId="2275336071" sldId="289"/>
            <ac:spMk id="2" creationId="{A7614DAD-4C66-C7CF-948F-4BE2CE6A3CCB}"/>
          </ac:spMkLst>
        </pc:spChg>
        <pc:spChg chg="add del mod">
          <ac:chgData name="sanu mathew" userId="ec8c2f12682202a6" providerId="LiveId" clId="{05ADEA0A-BB2B-4313-8B38-3B2BF9CE5AE5}" dt="2026-03-26T15:22:41.770" v="3623" actId="931"/>
          <ac:spMkLst>
            <pc:docMk/>
            <pc:sldMk cId="2275336071" sldId="289"/>
            <ac:spMk id="3" creationId="{3C963622-380B-8B20-DFAB-03698B2F7369}"/>
          </ac:spMkLst>
        </pc:spChg>
        <pc:spChg chg="add mod">
          <ac:chgData name="sanu mathew" userId="ec8c2f12682202a6" providerId="LiveId" clId="{05ADEA0A-BB2B-4313-8B38-3B2BF9CE5AE5}" dt="2026-03-26T15:28:50.103" v="4276" actId="6549"/>
          <ac:spMkLst>
            <pc:docMk/>
            <pc:sldMk cId="2275336071" sldId="289"/>
            <ac:spMk id="8" creationId="{ED334051-B88D-CBB6-5833-6EA1C6295E22}"/>
          </ac:spMkLst>
        </pc:spChg>
        <pc:picChg chg="add del mod ord">
          <ac:chgData name="sanu mathew" userId="ec8c2f12682202a6" providerId="LiveId" clId="{05ADEA0A-BB2B-4313-8B38-3B2BF9CE5AE5}" dt="2026-03-26T15:22:37.632" v="3622" actId="931"/>
          <ac:picMkLst>
            <pc:docMk/>
            <pc:sldMk cId="2275336071" sldId="289"/>
            <ac:picMk id="5" creationId="{E2ACFAD3-46CC-4E00-98DB-FA706C4C21BB}"/>
          </ac:picMkLst>
        </pc:picChg>
        <pc:picChg chg="add mod ord">
          <ac:chgData name="sanu mathew" userId="ec8c2f12682202a6" providerId="LiveId" clId="{05ADEA0A-BB2B-4313-8B38-3B2BF9CE5AE5}" dt="2026-03-26T15:22:48.623" v="3625" actId="14100"/>
          <ac:picMkLst>
            <pc:docMk/>
            <pc:sldMk cId="2275336071" sldId="289"/>
            <ac:picMk id="7" creationId="{56FDF40F-0F94-4996-52EC-5CE7695F49C2}"/>
          </ac:picMkLst>
        </pc:picChg>
      </pc:sldChg>
      <pc:sldChg chg="modSp new mod">
        <pc:chgData name="sanu mathew" userId="ec8c2f12682202a6" providerId="LiveId" clId="{05ADEA0A-BB2B-4313-8B38-3B2BF9CE5AE5}" dt="2026-03-26T15:35:14.757" v="4400"/>
        <pc:sldMkLst>
          <pc:docMk/>
          <pc:sldMk cId="2806457155" sldId="290"/>
        </pc:sldMkLst>
        <pc:spChg chg="mod">
          <ac:chgData name="sanu mathew" userId="ec8c2f12682202a6" providerId="LiveId" clId="{05ADEA0A-BB2B-4313-8B38-3B2BF9CE5AE5}" dt="2026-03-26T15:30:51.834" v="4305" actId="27636"/>
          <ac:spMkLst>
            <pc:docMk/>
            <pc:sldMk cId="2806457155" sldId="290"/>
            <ac:spMk id="2" creationId="{4A304B0C-9754-29E9-368F-F596D2D4C582}"/>
          </ac:spMkLst>
        </pc:spChg>
        <pc:spChg chg="mod">
          <ac:chgData name="sanu mathew" userId="ec8c2f12682202a6" providerId="LiveId" clId="{05ADEA0A-BB2B-4313-8B38-3B2BF9CE5AE5}" dt="2026-03-26T15:35:14.757" v="4400"/>
          <ac:spMkLst>
            <pc:docMk/>
            <pc:sldMk cId="2806457155" sldId="290"/>
            <ac:spMk id="3" creationId="{867643DA-A48C-5EB9-5BCF-89602B444EAC}"/>
          </ac:spMkLst>
        </pc:spChg>
      </pc:sldChg>
      <pc:sldChg chg="addSp delSp modSp new mod">
        <pc:chgData name="sanu mathew" userId="ec8c2f12682202a6" providerId="LiveId" clId="{05ADEA0A-BB2B-4313-8B38-3B2BF9CE5AE5}" dt="2026-03-26T15:39:49.780" v="4491"/>
        <pc:sldMkLst>
          <pc:docMk/>
          <pc:sldMk cId="4030825900" sldId="291"/>
        </pc:sldMkLst>
        <pc:spChg chg="del">
          <ac:chgData name="sanu mathew" userId="ec8c2f12682202a6" providerId="LiveId" clId="{05ADEA0A-BB2B-4313-8B38-3B2BF9CE5AE5}" dt="2026-03-26T15:35:26.523" v="4402" actId="21"/>
          <ac:spMkLst>
            <pc:docMk/>
            <pc:sldMk cId="4030825900" sldId="291"/>
            <ac:spMk id="2" creationId="{DDFD1251-B306-000C-0611-145F3D8CE0C5}"/>
          </ac:spMkLst>
        </pc:spChg>
        <pc:spChg chg="del mod">
          <ac:chgData name="sanu mathew" userId="ec8c2f12682202a6" providerId="LiveId" clId="{05ADEA0A-BB2B-4313-8B38-3B2BF9CE5AE5}" dt="2026-03-26T15:35:44.215" v="4405"/>
          <ac:spMkLst>
            <pc:docMk/>
            <pc:sldMk cId="4030825900" sldId="291"/>
            <ac:spMk id="3" creationId="{D835CBAA-53DA-91E6-6AD7-9A2BDB854E30}"/>
          </ac:spMkLst>
        </pc:spChg>
        <pc:spChg chg="add mod">
          <ac:chgData name="sanu mathew" userId="ec8c2f12682202a6" providerId="LiveId" clId="{05ADEA0A-BB2B-4313-8B38-3B2BF9CE5AE5}" dt="2026-03-26T15:39:49.780" v="4491"/>
          <ac:spMkLst>
            <pc:docMk/>
            <pc:sldMk cId="4030825900" sldId="291"/>
            <ac:spMk id="4" creationId="{DDFD1251-B306-000C-0611-145F3D8CE0C5}"/>
          </ac:spMkLst>
        </pc:spChg>
      </pc:sldChg>
      <pc:sldChg chg="modSp new mod">
        <pc:chgData name="sanu mathew" userId="ec8c2f12682202a6" providerId="LiveId" clId="{05ADEA0A-BB2B-4313-8B38-3B2BF9CE5AE5}" dt="2026-03-26T17:03:12.356" v="5315"/>
        <pc:sldMkLst>
          <pc:docMk/>
          <pc:sldMk cId="2465691066" sldId="292"/>
        </pc:sldMkLst>
        <pc:spChg chg="mod">
          <ac:chgData name="sanu mathew" userId="ec8c2f12682202a6" providerId="LiveId" clId="{05ADEA0A-BB2B-4313-8B38-3B2BF9CE5AE5}" dt="2026-03-26T16:53:32.580" v="4678" actId="1076"/>
          <ac:spMkLst>
            <pc:docMk/>
            <pc:sldMk cId="2465691066" sldId="292"/>
            <ac:spMk id="2" creationId="{7655D38C-7CE5-C4AC-0A99-3D38E11BF980}"/>
          </ac:spMkLst>
        </pc:spChg>
        <pc:spChg chg="mod">
          <ac:chgData name="sanu mathew" userId="ec8c2f12682202a6" providerId="LiveId" clId="{05ADEA0A-BB2B-4313-8B38-3B2BF9CE5AE5}" dt="2026-03-26T17:03:12.356" v="5315"/>
          <ac:spMkLst>
            <pc:docMk/>
            <pc:sldMk cId="2465691066" sldId="292"/>
            <ac:spMk id="3" creationId="{AB915FAD-3490-E51A-B6B3-0EB92577218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DD4646DE-D989-4477-B9A3-A7C32763B39A}" type="datetimeFigureOut">
              <a:rPr lang="en-IN" smtClean="0"/>
              <a:t>26-03-2026</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C10F96ED-F57D-456A-A3CE-43F55A3AE4ED}" type="slidenum">
              <a:rPr lang="en-IN" smtClean="0"/>
              <a:t>‹#›</a:t>
            </a:fld>
            <a:endParaRPr lang="en-IN"/>
          </a:p>
        </p:txBody>
      </p:sp>
    </p:spTree>
    <p:extLst>
      <p:ext uri="{BB962C8B-B14F-4D97-AF65-F5344CB8AC3E}">
        <p14:creationId xmlns:p14="http://schemas.microsoft.com/office/powerpoint/2010/main" val="239262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4646DE-D989-4477-B9A3-A7C32763B39A}"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0F96ED-F57D-456A-A3CE-43F55A3AE4ED}" type="slidenum">
              <a:rPr lang="en-IN" smtClean="0"/>
              <a:t>‹#›</a:t>
            </a:fld>
            <a:endParaRPr lang="en-IN"/>
          </a:p>
        </p:txBody>
      </p:sp>
    </p:spTree>
    <p:extLst>
      <p:ext uri="{BB962C8B-B14F-4D97-AF65-F5344CB8AC3E}">
        <p14:creationId xmlns:p14="http://schemas.microsoft.com/office/powerpoint/2010/main" val="3516283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4646DE-D989-4477-B9A3-A7C32763B39A}"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0F96ED-F57D-456A-A3CE-43F55A3AE4ED}" type="slidenum">
              <a:rPr lang="en-IN" smtClean="0"/>
              <a:t>‹#›</a:t>
            </a:fld>
            <a:endParaRPr lang="en-IN"/>
          </a:p>
        </p:txBody>
      </p:sp>
    </p:spTree>
    <p:extLst>
      <p:ext uri="{BB962C8B-B14F-4D97-AF65-F5344CB8AC3E}">
        <p14:creationId xmlns:p14="http://schemas.microsoft.com/office/powerpoint/2010/main" val="2099227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4646DE-D989-4477-B9A3-A7C32763B39A}"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0F96ED-F57D-456A-A3CE-43F55A3AE4ED}" type="slidenum">
              <a:rPr lang="en-IN" smtClean="0"/>
              <a:t>‹#›</a:t>
            </a:fld>
            <a:endParaRPr lang="en-IN"/>
          </a:p>
        </p:txBody>
      </p:sp>
    </p:spTree>
    <p:extLst>
      <p:ext uri="{BB962C8B-B14F-4D97-AF65-F5344CB8AC3E}">
        <p14:creationId xmlns:p14="http://schemas.microsoft.com/office/powerpoint/2010/main" val="29569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4646DE-D989-4477-B9A3-A7C32763B39A}" type="datetimeFigureOut">
              <a:rPr lang="en-IN" smtClean="0"/>
              <a:t>26-03-2026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0F96ED-F57D-456A-A3CE-43F55A3AE4ED}" type="slidenum">
              <a:rPr lang="en-IN" smtClean="0"/>
              <a:t>‹#›</a:t>
            </a:fld>
            <a:endParaRPr lang="en-IN"/>
          </a:p>
        </p:txBody>
      </p:sp>
    </p:spTree>
    <p:extLst>
      <p:ext uri="{BB962C8B-B14F-4D97-AF65-F5344CB8AC3E}">
        <p14:creationId xmlns:p14="http://schemas.microsoft.com/office/powerpoint/2010/main" val="3458156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4646DE-D989-4477-B9A3-A7C32763B39A}" type="datetimeFigureOut">
              <a:rPr lang="en-IN" smtClean="0"/>
              <a:t>26-03-2026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0F96ED-F57D-456A-A3CE-43F55A3AE4ED}" type="slidenum">
              <a:rPr lang="en-IN" smtClean="0"/>
              <a:t>‹#›</a:t>
            </a:fld>
            <a:endParaRPr lang="en-IN"/>
          </a:p>
        </p:txBody>
      </p:sp>
    </p:spTree>
    <p:extLst>
      <p:ext uri="{BB962C8B-B14F-4D97-AF65-F5344CB8AC3E}">
        <p14:creationId xmlns:p14="http://schemas.microsoft.com/office/powerpoint/2010/main" val="187519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4646DE-D989-4477-B9A3-A7C32763B39A}" type="datetimeFigureOut">
              <a:rPr lang="en-IN" smtClean="0"/>
              <a:t>26-03-2026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0F96ED-F57D-456A-A3CE-43F55A3AE4ED}" type="slidenum">
              <a:rPr lang="en-IN" smtClean="0"/>
              <a:t>‹#›</a:t>
            </a:fld>
            <a:endParaRPr lang="en-IN"/>
          </a:p>
        </p:txBody>
      </p:sp>
    </p:spTree>
    <p:extLst>
      <p:ext uri="{BB962C8B-B14F-4D97-AF65-F5344CB8AC3E}">
        <p14:creationId xmlns:p14="http://schemas.microsoft.com/office/powerpoint/2010/main" val="3315220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DD4646DE-D989-4477-B9A3-A7C32763B39A}" type="datetimeFigureOut">
              <a:rPr lang="en-IN" smtClean="0"/>
              <a:t>26-03-2026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0F96ED-F57D-456A-A3CE-43F55A3AE4ED}" type="slidenum">
              <a:rPr lang="en-IN" smtClean="0"/>
              <a:t>‹#›</a:t>
            </a:fld>
            <a:endParaRPr lang="en-IN"/>
          </a:p>
        </p:txBody>
      </p:sp>
    </p:spTree>
    <p:extLst>
      <p:ext uri="{BB962C8B-B14F-4D97-AF65-F5344CB8AC3E}">
        <p14:creationId xmlns:p14="http://schemas.microsoft.com/office/powerpoint/2010/main" val="655125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DD4646DE-D989-4477-B9A3-A7C32763B39A}" type="datetimeFigureOut">
              <a:rPr lang="en-IN" smtClean="0"/>
              <a:t>26-03-2026</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C10F96ED-F57D-456A-A3CE-43F55A3AE4ED}" type="slidenum">
              <a:rPr lang="en-IN" smtClean="0"/>
              <a:t>‹#›</a:t>
            </a:fld>
            <a:endParaRPr lang="en-IN"/>
          </a:p>
        </p:txBody>
      </p:sp>
    </p:spTree>
    <p:extLst>
      <p:ext uri="{BB962C8B-B14F-4D97-AF65-F5344CB8AC3E}">
        <p14:creationId xmlns:p14="http://schemas.microsoft.com/office/powerpoint/2010/main" val="190294233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4646DE-D989-4477-B9A3-A7C32763B39A}"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0F96ED-F57D-456A-A3CE-43F55A3AE4ED}" type="slidenum">
              <a:rPr lang="en-IN" smtClean="0"/>
              <a:t>‹#›</a:t>
            </a:fld>
            <a:endParaRPr lang="en-IN"/>
          </a:p>
        </p:txBody>
      </p:sp>
    </p:spTree>
    <p:extLst>
      <p:ext uri="{BB962C8B-B14F-4D97-AF65-F5344CB8AC3E}">
        <p14:creationId xmlns:p14="http://schemas.microsoft.com/office/powerpoint/2010/main" val="2176398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4646DE-D989-4477-B9A3-A7C32763B39A}" type="datetimeFigureOut">
              <a:rPr lang="en-IN" smtClean="0"/>
              <a:t>26-03-2026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0F96ED-F57D-456A-A3CE-43F55A3AE4ED}" type="slidenum">
              <a:rPr lang="en-IN" smtClean="0"/>
              <a:t>‹#›</a:t>
            </a:fld>
            <a:endParaRPr lang="en-IN"/>
          </a:p>
        </p:txBody>
      </p:sp>
    </p:spTree>
    <p:extLst>
      <p:ext uri="{BB962C8B-B14F-4D97-AF65-F5344CB8AC3E}">
        <p14:creationId xmlns:p14="http://schemas.microsoft.com/office/powerpoint/2010/main" val="1668377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DD4646DE-D989-4477-B9A3-A7C32763B39A}" type="datetimeFigureOut">
              <a:rPr lang="en-IN" smtClean="0"/>
              <a:t>26-03-2026</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C10F96ED-F57D-456A-A3CE-43F55A3AE4ED}" type="slidenum">
              <a:rPr lang="en-IN" smtClean="0"/>
              <a:t>‹#›</a:t>
            </a:fld>
            <a:endParaRPr lang="en-IN"/>
          </a:p>
        </p:txBody>
      </p:sp>
    </p:spTree>
    <p:extLst>
      <p:ext uri="{BB962C8B-B14F-4D97-AF65-F5344CB8AC3E}">
        <p14:creationId xmlns:p14="http://schemas.microsoft.com/office/powerpoint/2010/main" val="680550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6987B-917C-296E-20A5-E0EC58C0A5A4}"/>
              </a:ext>
            </a:extLst>
          </p:cNvPr>
          <p:cNvSpPr>
            <a:spLocks noGrp="1"/>
          </p:cNvSpPr>
          <p:nvPr>
            <p:ph type="ctrTitle"/>
          </p:nvPr>
        </p:nvSpPr>
        <p:spPr>
          <a:xfrm>
            <a:off x="910467" y="1520460"/>
            <a:ext cx="10058400" cy="1143000"/>
          </a:xfrm>
        </p:spPr>
        <p:txBody>
          <a:bodyPr/>
          <a:lstStyle/>
          <a:p>
            <a:pPr algn="ctr">
              <a:lnSpc>
                <a:spcPct val="90000"/>
              </a:lnSpc>
            </a:pPr>
            <a:r>
              <a:rPr lang="en-IN" sz="3800" b="1" cap="all" spc="200" dirty="0">
                <a:solidFill>
                  <a:srgbClr val="262626"/>
                </a:solidFill>
              </a:rPr>
              <a:t>PROJECT ON PRODUCT CLUSTER ANALYSIS</a:t>
            </a:r>
          </a:p>
        </p:txBody>
      </p:sp>
      <p:sp>
        <p:nvSpPr>
          <p:cNvPr id="3" name="Subtitle 2">
            <a:extLst>
              <a:ext uri="{FF2B5EF4-FFF2-40B4-BE49-F238E27FC236}">
                <a16:creationId xmlns:a16="http://schemas.microsoft.com/office/drawing/2014/main" id="{5532BC53-44B1-C09D-DF64-43C4037390CD}"/>
              </a:ext>
            </a:extLst>
          </p:cNvPr>
          <p:cNvSpPr>
            <a:spLocks noGrp="1"/>
          </p:cNvSpPr>
          <p:nvPr>
            <p:ph type="subTitle" idx="1"/>
          </p:nvPr>
        </p:nvSpPr>
        <p:spPr/>
        <p:txBody>
          <a:bodyPr/>
          <a:lstStyle/>
          <a:p>
            <a:r>
              <a:rPr lang="en-IN" b="1" dirty="0"/>
              <a:t>			PRESENTED BY SANU MATHEW</a:t>
            </a:r>
          </a:p>
        </p:txBody>
      </p:sp>
    </p:spTree>
    <p:extLst>
      <p:ext uri="{BB962C8B-B14F-4D97-AF65-F5344CB8AC3E}">
        <p14:creationId xmlns:p14="http://schemas.microsoft.com/office/powerpoint/2010/main" val="2880642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FDA02-1B91-7B7C-411A-9950C3F6E1CB}"/>
              </a:ext>
            </a:extLst>
          </p:cNvPr>
          <p:cNvSpPr>
            <a:spLocks noGrp="1"/>
          </p:cNvSpPr>
          <p:nvPr>
            <p:ph type="title"/>
          </p:nvPr>
        </p:nvSpPr>
        <p:spPr>
          <a:xfrm>
            <a:off x="1097280" y="286603"/>
            <a:ext cx="9914849" cy="702303"/>
          </a:xfrm>
        </p:spPr>
        <p:txBody>
          <a:bodyPr>
            <a:normAutofit fontScale="90000"/>
          </a:bodyPr>
          <a:lstStyle/>
          <a:p>
            <a:r>
              <a:rPr lang="en-IN" dirty="0"/>
              <a:t>		TABLE OF CONTENTS</a:t>
            </a:r>
          </a:p>
        </p:txBody>
      </p:sp>
      <p:sp>
        <p:nvSpPr>
          <p:cNvPr id="3" name="Content Placeholder 2">
            <a:extLst>
              <a:ext uri="{FF2B5EF4-FFF2-40B4-BE49-F238E27FC236}">
                <a16:creationId xmlns:a16="http://schemas.microsoft.com/office/drawing/2014/main" id="{56873F77-11D8-47E0-84FE-7A7343F092F2}"/>
              </a:ext>
            </a:extLst>
          </p:cNvPr>
          <p:cNvSpPr>
            <a:spLocks noGrp="1"/>
          </p:cNvSpPr>
          <p:nvPr>
            <p:ph idx="1"/>
          </p:nvPr>
        </p:nvSpPr>
        <p:spPr>
          <a:xfrm>
            <a:off x="953728" y="988905"/>
            <a:ext cx="10874477" cy="5284075"/>
          </a:xfrm>
        </p:spPr>
        <p:txBody>
          <a:bodyPr>
            <a:normAutofit fontScale="85000" lnSpcReduction="20000"/>
          </a:bodyPr>
          <a:lstStyle/>
          <a:p>
            <a:pPr marL="457200" indent="-457200">
              <a:buFont typeface="+mj-lt"/>
              <a:buAutoNum type="arabicPeriod"/>
            </a:pPr>
            <a:r>
              <a:rPr lang="en-IN" dirty="0"/>
              <a:t>PROJECT INTRODUCTION</a:t>
            </a:r>
          </a:p>
          <a:p>
            <a:pPr marL="457200" indent="-457200">
              <a:buFont typeface="+mj-lt"/>
              <a:buAutoNum type="arabicPeriod"/>
            </a:pPr>
            <a:r>
              <a:rPr lang="en-IN" dirty="0"/>
              <a:t>BUSINESS UNDERSTANDING</a:t>
            </a:r>
          </a:p>
          <a:p>
            <a:pPr marL="457200" indent="-457200">
              <a:buFont typeface="+mj-lt"/>
              <a:buAutoNum type="arabicPeriod"/>
            </a:pPr>
            <a:r>
              <a:rPr lang="en-IN" dirty="0"/>
              <a:t>METHODOLOGY</a:t>
            </a:r>
          </a:p>
          <a:p>
            <a:pPr marL="457200" indent="-457200">
              <a:buFont typeface="+mj-lt"/>
              <a:buAutoNum type="arabicPeriod"/>
            </a:pPr>
            <a:r>
              <a:rPr lang="en-IN" dirty="0"/>
              <a:t>DATA EXPLORATION</a:t>
            </a:r>
          </a:p>
          <a:p>
            <a:pPr marL="457200" indent="-457200">
              <a:buFont typeface="+mj-lt"/>
              <a:buAutoNum type="arabicPeriod"/>
            </a:pPr>
            <a:r>
              <a:rPr lang="en-IN" dirty="0"/>
              <a:t>DATA CLEANING</a:t>
            </a:r>
          </a:p>
          <a:p>
            <a:pPr marL="457200" indent="-457200">
              <a:buFont typeface="+mj-lt"/>
              <a:buAutoNum type="arabicPeriod"/>
            </a:pPr>
            <a:r>
              <a:rPr lang="en-IN" dirty="0"/>
              <a:t>FEATURE ENGINEERING</a:t>
            </a:r>
          </a:p>
          <a:p>
            <a:pPr marL="457200" indent="-457200">
              <a:buFont typeface="+mj-lt"/>
              <a:buAutoNum type="arabicPeriod"/>
            </a:pPr>
            <a:r>
              <a:rPr lang="en-IN" dirty="0"/>
              <a:t>EXPLORATORY DATA ANALYSIS(EDA)</a:t>
            </a:r>
          </a:p>
          <a:p>
            <a:pPr marL="457200" indent="-457200">
              <a:buFont typeface="+mj-lt"/>
              <a:buAutoNum type="arabicPeriod"/>
            </a:pPr>
            <a:r>
              <a:rPr lang="en-IN" dirty="0"/>
              <a:t>FEATURE SCALING</a:t>
            </a:r>
          </a:p>
          <a:p>
            <a:pPr marL="457200" indent="-457200">
              <a:buFont typeface="+mj-lt"/>
              <a:buAutoNum type="arabicPeriod"/>
            </a:pPr>
            <a:r>
              <a:rPr lang="en-IN" dirty="0"/>
              <a:t>MODEL SELECTION</a:t>
            </a:r>
          </a:p>
          <a:p>
            <a:pPr marL="457200" indent="-457200">
              <a:buFont typeface="+mj-lt"/>
              <a:buAutoNum type="arabicPeriod"/>
            </a:pPr>
            <a:r>
              <a:rPr lang="en-IN" dirty="0"/>
              <a:t>EVALUATION</a:t>
            </a:r>
          </a:p>
          <a:p>
            <a:pPr marL="457200" indent="-457200">
              <a:buFont typeface="+mj-lt"/>
              <a:buAutoNum type="arabicPeriod"/>
            </a:pPr>
            <a:r>
              <a:rPr lang="en-IN" dirty="0"/>
              <a:t>VISUALIZATION(PCA)</a:t>
            </a:r>
          </a:p>
          <a:p>
            <a:pPr marL="457200" indent="-457200">
              <a:buFont typeface="+mj-lt"/>
              <a:buAutoNum type="arabicPeriod"/>
            </a:pPr>
            <a:r>
              <a:rPr lang="en-IN" dirty="0"/>
              <a:t>INSIGHT GENERATION</a:t>
            </a:r>
          </a:p>
          <a:p>
            <a:pPr marL="457200" indent="-457200">
              <a:buFont typeface="+mj-lt"/>
              <a:buAutoNum type="arabicPeriod"/>
            </a:pPr>
            <a:r>
              <a:rPr lang="en-IN" dirty="0"/>
              <a:t>BUSINESS RECOMMENDATION</a:t>
            </a:r>
          </a:p>
          <a:p>
            <a:pPr marL="457200" indent="-457200">
              <a:buFont typeface="+mj-lt"/>
              <a:buAutoNum type="arabicPeriod"/>
            </a:pPr>
            <a:r>
              <a:rPr lang="en-IN" dirty="0"/>
              <a:t>DEPLOYMENT</a:t>
            </a:r>
          </a:p>
          <a:p>
            <a:endParaRPr lang="en-IN" dirty="0"/>
          </a:p>
        </p:txBody>
      </p:sp>
    </p:spTree>
    <p:extLst>
      <p:ext uri="{BB962C8B-B14F-4D97-AF65-F5344CB8AC3E}">
        <p14:creationId xmlns:p14="http://schemas.microsoft.com/office/powerpoint/2010/main" val="2684051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50BF0-B569-8CA7-DCE0-F71CEA449AE3}"/>
              </a:ext>
            </a:extLst>
          </p:cNvPr>
          <p:cNvSpPr>
            <a:spLocks noGrp="1"/>
          </p:cNvSpPr>
          <p:nvPr>
            <p:ph type="title"/>
          </p:nvPr>
        </p:nvSpPr>
        <p:spPr>
          <a:xfrm>
            <a:off x="1097280" y="286603"/>
            <a:ext cx="9678875" cy="702303"/>
          </a:xfrm>
        </p:spPr>
        <p:txBody>
          <a:bodyPr>
            <a:normAutofit fontScale="90000"/>
          </a:bodyPr>
          <a:lstStyle/>
          <a:p>
            <a:r>
              <a:rPr lang="en-IN" dirty="0"/>
              <a:t>			INTRODUCTION</a:t>
            </a:r>
          </a:p>
        </p:txBody>
      </p:sp>
      <p:sp>
        <p:nvSpPr>
          <p:cNvPr id="3" name="Content Placeholder 2">
            <a:extLst>
              <a:ext uri="{FF2B5EF4-FFF2-40B4-BE49-F238E27FC236}">
                <a16:creationId xmlns:a16="http://schemas.microsoft.com/office/drawing/2014/main" id="{8DA330DD-E06E-30FF-1694-02DD7B1E9FBE}"/>
              </a:ext>
            </a:extLst>
          </p:cNvPr>
          <p:cNvSpPr>
            <a:spLocks noGrp="1"/>
          </p:cNvSpPr>
          <p:nvPr>
            <p:ph idx="1"/>
          </p:nvPr>
        </p:nvSpPr>
        <p:spPr>
          <a:xfrm>
            <a:off x="0" y="835743"/>
            <a:ext cx="12192000" cy="5525728"/>
          </a:xfrm>
        </p:spPr>
        <p:txBody>
          <a:bodyPr>
            <a:normAutofit lnSpcReduction="10000"/>
          </a:bodyPr>
          <a:lstStyle/>
          <a:p>
            <a:pPr marL="457200" indent="-457200">
              <a:buFont typeface="+mj-lt"/>
              <a:buAutoNum type="arabicPeriod"/>
            </a:pPr>
            <a:r>
              <a:rPr lang="en-US" dirty="0"/>
              <a:t>In today’s competitive retail and distribution landscape, understanding product performance and customer demand patterns is essential for effective decision-making. Organizations often manage a large and diverse portfolio of products, making it challenging to identify which products drive revenue, which underperform, and how demand varies over time.</a:t>
            </a:r>
          </a:p>
          <a:p>
            <a:pPr marL="457200" indent="-457200">
              <a:buFont typeface="+mj-lt"/>
              <a:buAutoNum type="arabicPeriod"/>
            </a:pPr>
            <a:r>
              <a:rPr lang="en-US" dirty="0"/>
              <a:t>In today’s competitive retail and distribution landscape, understanding product performance and customer demand patterns is essential for effective decision-making. Organizations often manage a large and diverse portfolio of products, making it challenging to identify which products drive revenue, which underperform, and how demand varies over time.</a:t>
            </a:r>
          </a:p>
          <a:p>
            <a:pPr marL="457200" indent="-457200">
              <a:buFont typeface="+mj-lt"/>
              <a:buAutoNum type="arabicPeriod"/>
            </a:pPr>
            <a:r>
              <a:rPr lang="en-US" dirty="0"/>
              <a:t>This project focuses on applying data-driven techniques to analyze historical sales data and uncover meaningful patterns in product behavior. By leveraging machine learning methods such as clustering, products are grouped based on similarities in sales performance, variability, and demand characteristics.</a:t>
            </a:r>
          </a:p>
          <a:p>
            <a:pPr marL="457200" indent="-457200">
              <a:buFont typeface="+mj-lt"/>
              <a:buAutoNum type="arabicPeriod"/>
            </a:pPr>
            <a:r>
              <a:rPr lang="en-US" dirty="0"/>
              <a:t>The analysis enables the identification of key product segments such as high-performing products, slow-moving inventory, seasonal items, and stable performers. These insights support better inventory management, improved product assortment planning, and more targeted business strategies.</a:t>
            </a:r>
            <a:endParaRPr lang="en-IN" dirty="0"/>
          </a:p>
        </p:txBody>
      </p:sp>
    </p:spTree>
    <p:extLst>
      <p:ext uri="{BB962C8B-B14F-4D97-AF65-F5344CB8AC3E}">
        <p14:creationId xmlns:p14="http://schemas.microsoft.com/office/powerpoint/2010/main" val="3133261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E0139-5C09-2651-4F33-8FCFAD625193}"/>
              </a:ext>
            </a:extLst>
          </p:cNvPr>
          <p:cNvSpPr>
            <a:spLocks noGrp="1"/>
          </p:cNvSpPr>
          <p:nvPr>
            <p:ph type="title"/>
          </p:nvPr>
        </p:nvSpPr>
        <p:spPr>
          <a:xfrm>
            <a:off x="709613" y="25564"/>
            <a:ext cx="10577820" cy="810178"/>
          </a:xfrm>
        </p:spPr>
        <p:txBody>
          <a:bodyPr/>
          <a:lstStyle/>
          <a:p>
            <a:r>
              <a:rPr lang="en-IN" dirty="0"/>
              <a:t>	BUSINESS UNDERSTANDING</a:t>
            </a:r>
          </a:p>
        </p:txBody>
      </p:sp>
      <p:sp>
        <p:nvSpPr>
          <p:cNvPr id="3" name="Content Placeholder 2">
            <a:extLst>
              <a:ext uri="{FF2B5EF4-FFF2-40B4-BE49-F238E27FC236}">
                <a16:creationId xmlns:a16="http://schemas.microsoft.com/office/drawing/2014/main" id="{65F459FE-276F-84BB-466C-D9AEFC02E273}"/>
              </a:ext>
            </a:extLst>
          </p:cNvPr>
          <p:cNvSpPr>
            <a:spLocks noGrp="1"/>
          </p:cNvSpPr>
          <p:nvPr>
            <p:ph idx="1"/>
          </p:nvPr>
        </p:nvSpPr>
        <p:spPr>
          <a:xfrm>
            <a:off x="533708" y="835742"/>
            <a:ext cx="11559969" cy="5996694"/>
          </a:xfrm>
        </p:spPr>
        <p:txBody>
          <a:bodyPr/>
          <a:lstStyle/>
          <a:p>
            <a:pPr marL="457200" indent="-457200">
              <a:buFont typeface="+mj-lt"/>
              <a:buAutoNum type="arabicPeriod"/>
            </a:pPr>
            <a:r>
              <a:rPr lang="en-US" dirty="0"/>
              <a:t>In a competitive retail and distribution environment, organizations manage a wide range of products with varying demand patterns and performance levels. However, the lack of structured insights into product behavior often leads to challenges such as overstocking, stockouts, inefficient inventory allocation, and missed revenue opportunities.</a:t>
            </a:r>
          </a:p>
          <a:p>
            <a:pPr marL="457200" indent="-457200">
              <a:buFont typeface="+mj-lt"/>
              <a:buAutoNum type="arabicPeriod"/>
            </a:pPr>
            <a:r>
              <a:rPr lang="en-US" dirty="0"/>
              <a:t>The primary objective of this project is to gain a deeper understanding of product performance by analyzing historical sales data. Specifically, the project aims to identify patterns in product demand, distinguish between high-performing and low-performing products, and uncover variations in sales behavior over time.</a:t>
            </a:r>
          </a:p>
          <a:p>
            <a:pPr marL="457200" indent="-457200">
              <a:buFont typeface="+mj-lt"/>
              <a:buAutoNum type="arabicPeriod"/>
            </a:pPr>
            <a:r>
              <a:rPr lang="en-US" dirty="0"/>
              <a:t>By grouping products based on their sales characteristics, the business can better understand which products drive revenue, which require attention, and how different product segments behave. This enables more informed decision-making across inventory management, procurement, and sales strategy.</a:t>
            </a:r>
          </a:p>
          <a:p>
            <a:pPr marL="457200" indent="-457200">
              <a:buFont typeface="+mj-lt"/>
              <a:buAutoNum type="arabicPeriod"/>
            </a:pPr>
            <a:r>
              <a:rPr lang="en-US" dirty="0"/>
              <a:t>Additionally, the project seeks to identify relationships in product demand patterns, allowing the business to optimize product placement, improve planning, and enhance overall operational efficiency. Ultimately, the goal is to leverage data-driven insights to improve business performance and maintain a competitive advantage.</a:t>
            </a:r>
            <a:endParaRPr lang="en-IN" dirty="0"/>
          </a:p>
        </p:txBody>
      </p:sp>
    </p:spTree>
    <p:extLst>
      <p:ext uri="{BB962C8B-B14F-4D97-AF65-F5344CB8AC3E}">
        <p14:creationId xmlns:p14="http://schemas.microsoft.com/office/powerpoint/2010/main" val="1237911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8A2F9-26A0-3151-49E2-11075E75D118}"/>
              </a:ext>
            </a:extLst>
          </p:cNvPr>
          <p:cNvSpPr>
            <a:spLocks noGrp="1"/>
          </p:cNvSpPr>
          <p:nvPr>
            <p:ph type="title"/>
          </p:nvPr>
        </p:nvSpPr>
        <p:spPr>
          <a:xfrm>
            <a:off x="1097280" y="286603"/>
            <a:ext cx="9747701" cy="702303"/>
          </a:xfrm>
        </p:spPr>
        <p:txBody>
          <a:bodyPr>
            <a:normAutofit fontScale="90000"/>
          </a:bodyPr>
          <a:lstStyle/>
          <a:p>
            <a:r>
              <a:rPr lang="en-IN" dirty="0"/>
              <a:t>			METHODOLOGY</a:t>
            </a:r>
          </a:p>
        </p:txBody>
      </p:sp>
      <p:sp>
        <p:nvSpPr>
          <p:cNvPr id="3" name="Content Placeholder 2">
            <a:extLst>
              <a:ext uri="{FF2B5EF4-FFF2-40B4-BE49-F238E27FC236}">
                <a16:creationId xmlns:a16="http://schemas.microsoft.com/office/drawing/2014/main" id="{B07836E7-8F80-0AEF-D792-183061A9341D}"/>
              </a:ext>
            </a:extLst>
          </p:cNvPr>
          <p:cNvSpPr>
            <a:spLocks noGrp="1"/>
          </p:cNvSpPr>
          <p:nvPr>
            <p:ph idx="1"/>
          </p:nvPr>
        </p:nvSpPr>
        <p:spPr>
          <a:xfrm>
            <a:off x="1097279" y="988905"/>
            <a:ext cx="10740759" cy="5293907"/>
          </a:xfrm>
        </p:spPr>
        <p:txBody>
          <a:bodyPr>
            <a:normAutofit fontScale="85000" lnSpcReduction="20000"/>
          </a:bodyPr>
          <a:lstStyle/>
          <a:p>
            <a:pPr marL="457200" indent="-457200">
              <a:buFont typeface="+mj-lt"/>
              <a:buAutoNum type="arabicPeriod"/>
            </a:pPr>
            <a:r>
              <a:rPr lang="en-US" dirty="0"/>
              <a:t>The methodology for this project follows a structured data science workflow to transform raw sales data into meaningful business insights.</a:t>
            </a:r>
          </a:p>
          <a:p>
            <a:pPr marL="457200" indent="-457200">
              <a:buFont typeface="+mj-lt"/>
              <a:buAutoNum type="arabicPeriod"/>
            </a:pPr>
            <a:r>
              <a:rPr lang="en-US" dirty="0"/>
              <a:t>The process begins with data collection and understanding, where the dataset is explored to identify key variables such as product identifiers, sales metrics, and time-related features. This is followed by data cleaning, which involves handling missing values, correcting data inconsistencies, addressing negative values, and ensuring overall data quality.</a:t>
            </a:r>
          </a:p>
          <a:p>
            <a:pPr marL="457200" indent="-457200">
              <a:buFont typeface="+mj-lt"/>
              <a:buAutoNum type="arabicPeriod"/>
            </a:pPr>
            <a:r>
              <a:rPr lang="en-US" dirty="0"/>
              <a:t>The process begins with data collection and understanding, where the dataset is explored to identify key variables such as product identifiers, sales metrics, and time-related features. This is followed by data cleaning, which involves handling missing values, correcting data inconsistencies, addressing negative values, and ensuring overall data quality.</a:t>
            </a:r>
          </a:p>
          <a:p>
            <a:pPr marL="457200" indent="-457200">
              <a:buFont typeface="+mj-lt"/>
              <a:buAutoNum type="arabicPeriod"/>
            </a:pPr>
            <a:r>
              <a:rPr lang="en-US" dirty="0"/>
              <a:t>Next, feature engineering is performed to create product-level attributes that capture sales behavior. These include total sales, average sales, variability, demand intensity, channel contribution ratios, and activity levels. Log transformations are applied to reduce skewness and improve model performance.</a:t>
            </a:r>
          </a:p>
          <a:p>
            <a:pPr marL="457200" indent="-457200">
              <a:buFont typeface="+mj-lt"/>
              <a:buAutoNum type="arabicPeriod"/>
            </a:pPr>
            <a:r>
              <a:rPr lang="en-US" dirty="0"/>
              <a:t>To determine the optimal number of clusters, the Elbow Method and Silhouette Score are used. Once the model is finalized, clusters are visualized using Principal Component Analysis (PCA) for better interpretability.</a:t>
            </a:r>
          </a:p>
          <a:p>
            <a:pPr marL="457200" indent="-457200">
              <a:buFont typeface="+mj-lt"/>
              <a:buAutoNum type="arabicPeriod"/>
            </a:pPr>
            <a:r>
              <a:rPr lang="en-US" dirty="0"/>
              <a:t>Finally, clusters are analyzed and interpreted based on their characteristics, and meaningful business insights are derived to support inventory optimization, product strategy, and decision-making.</a:t>
            </a:r>
          </a:p>
          <a:p>
            <a:endParaRPr lang="en-IN" dirty="0"/>
          </a:p>
        </p:txBody>
      </p:sp>
    </p:spTree>
    <p:extLst>
      <p:ext uri="{BB962C8B-B14F-4D97-AF65-F5344CB8AC3E}">
        <p14:creationId xmlns:p14="http://schemas.microsoft.com/office/powerpoint/2010/main" val="137120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60880-F9F1-6F7F-16B3-61858F612516}"/>
              </a:ext>
            </a:extLst>
          </p:cNvPr>
          <p:cNvSpPr>
            <a:spLocks noGrp="1"/>
          </p:cNvSpPr>
          <p:nvPr>
            <p:ph type="title"/>
          </p:nvPr>
        </p:nvSpPr>
        <p:spPr>
          <a:xfrm>
            <a:off x="785043" y="116075"/>
            <a:ext cx="10148427" cy="876983"/>
          </a:xfrm>
        </p:spPr>
        <p:txBody>
          <a:bodyPr>
            <a:normAutofit/>
          </a:bodyPr>
          <a:lstStyle/>
          <a:p>
            <a:r>
              <a:rPr lang="en-IN" dirty="0"/>
              <a:t>		DATASET EXPLORATION</a:t>
            </a:r>
          </a:p>
        </p:txBody>
      </p:sp>
      <p:sp>
        <p:nvSpPr>
          <p:cNvPr id="3" name="Content Placeholder 2">
            <a:extLst>
              <a:ext uri="{FF2B5EF4-FFF2-40B4-BE49-F238E27FC236}">
                <a16:creationId xmlns:a16="http://schemas.microsoft.com/office/drawing/2014/main" id="{05CDB3D5-9010-7FFF-8EDA-F5EE7F3A7279}"/>
              </a:ext>
            </a:extLst>
          </p:cNvPr>
          <p:cNvSpPr>
            <a:spLocks noGrp="1"/>
          </p:cNvSpPr>
          <p:nvPr>
            <p:ph idx="1"/>
          </p:nvPr>
        </p:nvSpPr>
        <p:spPr>
          <a:xfrm>
            <a:off x="489843" y="993058"/>
            <a:ext cx="11584170" cy="5864942"/>
          </a:xfrm>
        </p:spPr>
        <p:txBody>
          <a:bodyPr>
            <a:normAutofit fontScale="92500" lnSpcReduction="20000"/>
          </a:bodyPr>
          <a:lstStyle/>
          <a:p>
            <a:pPr marL="457200" indent="-457200">
              <a:buFont typeface="+mj-lt"/>
              <a:buAutoNum type="arabicPeriod"/>
            </a:pPr>
            <a:r>
              <a:rPr lang="en-US" dirty="0"/>
              <a:t>The dataset exploration phase focused on understanding the structure, quality, and key characteristics of the sales data. The dataset consists of product-level records including attributes such as item code, supplier, product type, and multiple sales-related variables including retail sales, warehouse sales, and total sales over time.</a:t>
            </a:r>
          </a:p>
          <a:p>
            <a:pPr marL="457200" indent="-457200">
              <a:buFont typeface="+mj-lt"/>
              <a:buAutoNum type="arabicPeriod"/>
            </a:pPr>
            <a:r>
              <a:rPr lang="en-US" dirty="0"/>
              <a:t>Initial exploration involved examining the dataset’s size, data types, and distribution of values across features. Summary statistics were used to understand central tendencies and variability in sales metrics, while checks for missing values and duplicates ensured data quality.</a:t>
            </a:r>
          </a:p>
          <a:p>
            <a:pPr marL="457200" indent="-457200">
              <a:buFont typeface="+mj-lt"/>
              <a:buAutoNum type="arabicPeriod"/>
            </a:pPr>
            <a:r>
              <a:rPr lang="en-US" dirty="0"/>
              <a:t>Further analysis revealed that the sales data was highly skewed, with a small number of products contributing disproportionately to total revenue. This indicated the presence of high-value products alongside a large number of low-performing items. Outlier detection confirmed extreme values in sales, which required careful handling in subsequent steps.</a:t>
            </a:r>
          </a:p>
          <a:p>
            <a:pPr marL="457200" indent="-457200">
              <a:buFont typeface="+mj-lt"/>
              <a:buAutoNum type="arabicPeriod"/>
            </a:pPr>
            <a:r>
              <a:rPr lang="en-US" dirty="0"/>
              <a:t>Categorical variables such as supplier and product type were analyzed to understand diversity and distribution across categories. Time-based exploration using monthly trends highlighted seasonal patterns and fluctuations in product demand</a:t>
            </a:r>
          </a:p>
          <a:p>
            <a:pPr marL="457200" indent="-457200">
              <a:buFont typeface="+mj-lt"/>
              <a:buAutoNum type="arabicPeriod"/>
            </a:pPr>
            <a:r>
              <a:rPr lang="en-US" dirty="0"/>
              <a:t>Correlation analysis showed strong relationships between retail sales, warehouse sales, and total sales, indicating consistent aggregation of sales channels. Additionally, pivot-based analysis provided insights into product performance across different time periods.</a:t>
            </a:r>
          </a:p>
          <a:p>
            <a:pPr marL="457200" indent="-457200">
              <a:buFont typeface="+mj-lt"/>
              <a:buAutoNum type="arabicPeriod"/>
            </a:pPr>
            <a:r>
              <a:rPr lang="en-US" dirty="0"/>
              <a:t>Overall, the dataset exploration phase provided critical insights into data distribution, quality issues, and underlying patterns, forming a strong foundation for effective feature engineering and clustering analysis.</a:t>
            </a:r>
            <a:endParaRPr lang="en-IN" dirty="0"/>
          </a:p>
        </p:txBody>
      </p:sp>
    </p:spTree>
    <p:extLst>
      <p:ext uri="{BB962C8B-B14F-4D97-AF65-F5344CB8AC3E}">
        <p14:creationId xmlns:p14="http://schemas.microsoft.com/office/powerpoint/2010/main" val="2682492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BFE4C-AD2D-ABB4-5F59-0D3D1EB80274}"/>
              </a:ext>
            </a:extLst>
          </p:cNvPr>
          <p:cNvSpPr>
            <a:spLocks noGrp="1"/>
          </p:cNvSpPr>
          <p:nvPr>
            <p:ph type="title"/>
          </p:nvPr>
        </p:nvSpPr>
        <p:spPr>
          <a:xfrm>
            <a:off x="617896" y="0"/>
            <a:ext cx="10315576" cy="924232"/>
          </a:xfrm>
        </p:spPr>
        <p:txBody>
          <a:bodyPr/>
          <a:lstStyle/>
          <a:p>
            <a:r>
              <a:rPr lang="en-IN" dirty="0"/>
              <a:t>		DATASET DESCRIPTION</a:t>
            </a:r>
          </a:p>
        </p:txBody>
      </p:sp>
      <p:sp>
        <p:nvSpPr>
          <p:cNvPr id="3" name="Content Placeholder 2">
            <a:extLst>
              <a:ext uri="{FF2B5EF4-FFF2-40B4-BE49-F238E27FC236}">
                <a16:creationId xmlns:a16="http://schemas.microsoft.com/office/drawing/2014/main" id="{508AB6A9-CBDB-5E15-467A-CC2CA2FE3C29}"/>
              </a:ext>
            </a:extLst>
          </p:cNvPr>
          <p:cNvSpPr>
            <a:spLocks noGrp="1"/>
          </p:cNvSpPr>
          <p:nvPr>
            <p:ph idx="1"/>
          </p:nvPr>
        </p:nvSpPr>
        <p:spPr>
          <a:xfrm>
            <a:off x="401353" y="924232"/>
            <a:ext cx="11790647" cy="5933768"/>
          </a:xfrm>
        </p:spPr>
        <p:txBody>
          <a:bodyPr>
            <a:normAutofit lnSpcReduction="10000"/>
          </a:bodyPr>
          <a:lstStyle/>
          <a:p>
            <a:pPr marL="457200" indent="-457200">
              <a:buFont typeface="+mj-lt"/>
              <a:buAutoNum type="arabicPeriod"/>
            </a:pPr>
            <a:r>
              <a:rPr lang="en-US" dirty="0"/>
              <a:t>Descriptive statistics were used to summarize and understand the key numerical features of the dataset, particularly the sales-related variables such as total sales, retail sales, and warehouse sales. These statistics provide insights into the central tendency, variability, and distribution of the data.</a:t>
            </a:r>
          </a:p>
          <a:p>
            <a:pPr marL="457200" indent="-457200">
              <a:buFont typeface="+mj-lt"/>
              <a:buAutoNum type="arabicPeriod"/>
            </a:pPr>
            <a:r>
              <a:rPr lang="en-US" dirty="0"/>
              <a:t>The analysis revealed that the sales variables exhibit a high degree of variability, with a significant difference between minimum and maximum values. The mean values were notably higher than the median values, indicating a right-skewed distribution where a small number of products contribute disproportionately to total sales.</a:t>
            </a:r>
          </a:p>
          <a:p>
            <a:pPr marL="457200" indent="-457200">
              <a:buFont typeface="+mj-lt"/>
              <a:buAutoNum type="arabicPeriod"/>
            </a:pPr>
            <a:r>
              <a:rPr lang="en-US" dirty="0"/>
              <a:t>Standard deviation values were relatively high, reflecting considerable dispersion in product performance across the dataset. This suggests that product demand is not uniform and varies significantly between high-performing and low-performing items.</a:t>
            </a:r>
          </a:p>
          <a:p>
            <a:pPr marL="457200" indent="-457200">
              <a:buFont typeface="+mj-lt"/>
              <a:buAutoNum type="arabicPeriod"/>
            </a:pPr>
            <a:r>
              <a:rPr lang="en-US" dirty="0"/>
              <a:t>Additionally, the presence of extreme values and outliers was observed, further emphasizing the uneven distribution of sales. These characteristics justified the application of log transformation during preprocessing to normalize the data and improve model performance.</a:t>
            </a:r>
          </a:p>
          <a:p>
            <a:pPr marL="457200" indent="-457200">
              <a:buFont typeface="+mj-lt"/>
              <a:buAutoNum type="arabicPeriod"/>
            </a:pPr>
            <a:r>
              <a:rPr lang="en-US" dirty="0"/>
              <a:t>Overall, descriptive statistics provided a foundational understanding of data distribution, variability, and skewness, guiding subsequent steps in data cleaning, feature engineering, and clustering analysis.</a:t>
            </a:r>
            <a:endParaRPr lang="en-IN" dirty="0"/>
          </a:p>
        </p:txBody>
      </p:sp>
    </p:spTree>
    <p:extLst>
      <p:ext uri="{BB962C8B-B14F-4D97-AF65-F5344CB8AC3E}">
        <p14:creationId xmlns:p14="http://schemas.microsoft.com/office/powerpoint/2010/main" val="1366030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36777-0449-D39A-7661-722B187D9F65}"/>
              </a:ext>
            </a:extLst>
          </p:cNvPr>
          <p:cNvSpPr>
            <a:spLocks noGrp="1"/>
          </p:cNvSpPr>
          <p:nvPr>
            <p:ph type="title"/>
          </p:nvPr>
        </p:nvSpPr>
        <p:spPr>
          <a:xfrm>
            <a:off x="638174" y="0"/>
            <a:ext cx="10934394" cy="1130710"/>
          </a:xfrm>
        </p:spPr>
        <p:txBody>
          <a:bodyPr/>
          <a:lstStyle/>
          <a:p>
            <a:r>
              <a:rPr lang="en-IN" dirty="0"/>
              <a:t>			DATA CLEANING</a:t>
            </a:r>
          </a:p>
        </p:txBody>
      </p:sp>
      <p:sp>
        <p:nvSpPr>
          <p:cNvPr id="3" name="Content Placeholder 2">
            <a:extLst>
              <a:ext uri="{FF2B5EF4-FFF2-40B4-BE49-F238E27FC236}">
                <a16:creationId xmlns:a16="http://schemas.microsoft.com/office/drawing/2014/main" id="{AF3CC868-F31E-93B9-0C20-0D8CC9B7528E}"/>
              </a:ext>
            </a:extLst>
          </p:cNvPr>
          <p:cNvSpPr>
            <a:spLocks noGrp="1"/>
          </p:cNvSpPr>
          <p:nvPr>
            <p:ph idx="1"/>
          </p:nvPr>
        </p:nvSpPr>
        <p:spPr>
          <a:xfrm>
            <a:off x="0" y="963561"/>
            <a:ext cx="12192000" cy="5894439"/>
          </a:xfrm>
        </p:spPr>
        <p:txBody>
          <a:bodyPr>
            <a:normAutofit fontScale="92500" lnSpcReduction="10000"/>
          </a:bodyPr>
          <a:lstStyle/>
          <a:p>
            <a:pPr marL="457200" indent="-457200">
              <a:buFont typeface="+mj-lt"/>
              <a:buAutoNum type="arabicPeriod"/>
            </a:pPr>
            <a:r>
              <a:rPr lang="en-US" dirty="0"/>
              <a:t>The data cleaning phase focused on improving data quality and ensuring consistency across all features before analysis and modeling. Initially, the dataset was examined for missing values, incorrect data types, and duplicate records.</a:t>
            </a:r>
          </a:p>
          <a:p>
            <a:pPr marL="457200" indent="-457200">
              <a:buFont typeface="+mj-lt"/>
              <a:buAutoNum type="arabicPeriod"/>
            </a:pPr>
            <a:r>
              <a:rPr lang="en-US" dirty="0"/>
              <a:t>Missing values in categorical variables, such as product type, were handled through appropriate imputation, while numerical inconsistencies were carefully reviewed. Duplicate records were identified and removed to avoid redundancy and bias in the analysis.</a:t>
            </a:r>
          </a:p>
          <a:p>
            <a:pPr marL="457200" indent="-457200">
              <a:buFont typeface="+mj-lt"/>
              <a:buAutoNum type="arabicPeriod"/>
            </a:pPr>
            <a:r>
              <a:rPr lang="en-US" dirty="0"/>
              <a:t>A key data quality issue involved negative values in warehouse sales, which were identified as potential returns or stock adjustments. These values were handled by capping them at zero and creating an additional feature to capture return behavior, ensuring that the transformation preserved business meaning.</a:t>
            </a:r>
          </a:p>
          <a:p>
            <a:pPr marL="457200" indent="-457200">
              <a:buFont typeface="+mj-lt"/>
              <a:buAutoNum type="arabicPeriod"/>
            </a:pPr>
            <a:r>
              <a:rPr lang="en-US" dirty="0"/>
              <a:t>Further validation confirmed that total sales were a combination of retail sales, retail transfers, and warehouse sales. This ensured logical consistency across the dataset.</a:t>
            </a:r>
          </a:p>
          <a:p>
            <a:pPr marL="457200" indent="-457200">
              <a:buFont typeface="+mj-lt"/>
              <a:buAutoNum type="arabicPeriod"/>
            </a:pPr>
            <a:r>
              <a:rPr lang="en-US" dirty="0"/>
              <a:t>Additionally, the sales data exhibited significant skewness and the presence of outliers. To address this, log transformations were applied to normalize the distribution and reduce the impact of extreme values.</a:t>
            </a:r>
          </a:p>
          <a:p>
            <a:pPr marL="457200" indent="-457200">
              <a:buFont typeface="+mj-lt"/>
              <a:buAutoNum type="arabicPeriod"/>
            </a:pPr>
            <a:r>
              <a:rPr lang="en-US" dirty="0"/>
              <a:t>Finally, text fields such as supplier and product type were standardized to maintain uniformity and avoid duplication due to formatting inconsistencies. The cleaned dataset was validated to ensure completeness and accuracy, making it suitable for feature engineering and clustering analysis.</a:t>
            </a:r>
            <a:endParaRPr lang="en-IN" dirty="0"/>
          </a:p>
        </p:txBody>
      </p:sp>
    </p:spTree>
    <p:extLst>
      <p:ext uri="{BB962C8B-B14F-4D97-AF65-F5344CB8AC3E}">
        <p14:creationId xmlns:p14="http://schemas.microsoft.com/office/powerpoint/2010/main" val="2463529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5816-34A1-B2E6-EEB0-6C3383311920}"/>
              </a:ext>
            </a:extLst>
          </p:cNvPr>
          <p:cNvSpPr>
            <a:spLocks noGrp="1"/>
          </p:cNvSpPr>
          <p:nvPr>
            <p:ph type="title"/>
          </p:nvPr>
        </p:nvSpPr>
        <p:spPr>
          <a:xfrm>
            <a:off x="568501" y="0"/>
            <a:ext cx="9853693" cy="934084"/>
          </a:xfrm>
        </p:spPr>
        <p:txBody>
          <a:bodyPr/>
          <a:lstStyle/>
          <a:p>
            <a:r>
              <a:rPr lang="en-IN" dirty="0"/>
              <a:t>	TOTAL SALES DISTRIBUTION</a:t>
            </a:r>
          </a:p>
        </p:txBody>
      </p:sp>
      <p:pic>
        <p:nvPicPr>
          <p:cNvPr id="5" name="Content Placeholder 4">
            <a:extLst>
              <a:ext uri="{FF2B5EF4-FFF2-40B4-BE49-F238E27FC236}">
                <a16:creationId xmlns:a16="http://schemas.microsoft.com/office/drawing/2014/main" id="{97DFDA0B-AAD1-9004-1271-F32DBB09D8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0492" y="741440"/>
            <a:ext cx="4862736" cy="3889554"/>
          </a:xfrm>
          <a:prstGeom prst="rect">
            <a:avLst/>
          </a:prstGeom>
        </p:spPr>
      </p:pic>
      <p:sp>
        <p:nvSpPr>
          <p:cNvPr id="6" name="TextBox 5">
            <a:extLst>
              <a:ext uri="{FF2B5EF4-FFF2-40B4-BE49-F238E27FC236}">
                <a16:creationId xmlns:a16="http://schemas.microsoft.com/office/drawing/2014/main" id="{6D99C8BC-5987-B87C-4B3A-F0186F9B2469}"/>
              </a:ext>
            </a:extLst>
          </p:cNvPr>
          <p:cNvSpPr txBox="1"/>
          <p:nvPr/>
        </p:nvSpPr>
        <p:spPr>
          <a:xfrm>
            <a:off x="-885" y="845594"/>
            <a:ext cx="12192885" cy="4801314"/>
          </a:xfrm>
          <a:prstGeom prst="rect">
            <a:avLst/>
          </a:prstGeom>
          <a:noFill/>
        </p:spPr>
        <p:txBody>
          <a:bodyPr wrap="square" rtlCol="0">
            <a:spAutoFit/>
          </a:bodyPr>
          <a:lstStyle/>
          <a:p>
            <a:r>
              <a:rPr lang="en-US" dirty="0"/>
              <a:t>Observations:</a:t>
            </a:r>
          </a:p>
          <a:p>
            <a:r>
              <a:rPr lang="en-US" dirty="0"/>
              <a:t>Heavy Right Skew- Majority of products have low sales</a:t>
            </a:r>
          </a:p>
          <a:p>
            <a:r>
              <a:rPr lang="en-US" dirty="0"/>
              <a:t>Few products dominate revenue</a:t>
            </a:r>
          </a:p>
          <a:p>
            <a:r>
              <a:rPr lang="en-US" dirty="0"/>
              <a:t>Presence of Outliers- Extreme high values </a:t>
            </a:r>
            <a:r>
              <a:rPr lang="en-US" dirty="0" err="1"/>
              <a:t>strect</a:t>
            </a:r>
            <a:r>
              <a:rPr lang="en-US" dirty="0"/>
              <a:t> the distribution</a:t>
            </a:r>
          </a:p>
          <a:p>
            <a:r>
              <a:rPr lang="en-US" dirty="0"/>
              <a:t>Negative Values- Sales should not usually be negative</a:t>
            </a:r>
          </a:p>
          <a:p>
            <a:r>
              <a:rPr lang="en-US" dirty="0"/>
              <a:t>If data is skewed, Large values dominate clustering, Small products get ignored</a:t>
            </a:r>
          </a:p>
          <a:p>
            <a:endParaRPr lang="en-US" dirty="0"/>
          </a:p>
          <a:p>
            <a:endParaRPr lang="en-US" dirty="0"/>
          </a:p>
          <a:p>
            <a:r>
              <a:rPr lang="en-US" dirty="0"/>
              <a:t>To fix this, I applied the following steps</a:t>
            </a:r>
          </a:p>
          <a:p>
            <a:r>
              <a:rPr lang="en-US" dirty="0"/>
              <a:t>Handle Negative Values - It represent reverse transactions, not actual demand</a:t>
            </a:r>
          </a:p>
          <a:p>
            <a:r>
              <a:rPr lang="en-US" dirty="0"/>
              <a:t>Apply Log Transformation - To reduce skewness, Control Outliers and </a:t>
            </a:r>
          </a:p>
          <a:p>
            <a:r>
              <a:rPr lang="en-US" dirty="0"/>
              <a:t>to have better grouping of clusters</a:t>
            </a:r>
          </a:p>
          <a:p>
            <a:r>
              <a:rPr lang="en-US" dirty="0"/>
              <a:t>Handle Outliers- Dominance of large values leads to misleading patterns </a:t>
            </a:r>
          </a:p>
          <a:p>
            <a:r>
              <a:rPr lang="en-US" dirty="0"/>
              <a:t>and poor model performance</a:t>
            </a:r>
          </a:p>
          <a:p>
            <a:r>
              <a:rPr lang="en-US" dirty="0"/>
              <a:t>Rebuild features using Transformed data-transformed messy sales data into structured signals that ML can actually understand</a:t>
            </a:r>
          </a:p>
          <a:p>
            <a:endParaRPr lang="en-US" dirty="0"/>
          </a:p>
          <a:p>
            <a:endParaRPr lang="en-IN" dirty="0"/>
          </a:p>
        </p:txBody>
      </p:sp>
    </p:spTree>
    <p:extLst>
      <p:ext uri="{BB962C8B-B14F-4D97-AF65-F5344CB8AC3E}">
        <p14:creationId xmlns:p14="http://schemas.microsoft.com/office/powerpoint/2010/main" val="132252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84461-D4BE-D97C-E83B-6858517540CC}"/>
              </a:ext>
            </a:extLst>
          </p:cNvPr>
          <p:cNvSpPr>
            <a:spLocks noGrp="1"/>
          </p:cNvSpPr>
          <p:nvPr>
            <p:ph type="title"/>
          </p:nvPr>
        </p:nvSpPr>
        <p:spPr>
          <a:xfrm>
            <a:off x="1276658" y="0"/>
            <a:ext cx="8191808" cy="963561"/>
          </a:xfrm>
        </p:spPr>
        <p:txBody>
          <a:bodyPr>
            <a:normAutofit/>
          </a:bodyPr>
          <a:lstStyle/>
          <a:p>
            <a:r>
              <a:rPr lang="en-IN" sz="4000" dirty="0"/>
              <a:t>LOG TRANSFORMED SALES DISTRIBUTION</a:t>
            </a:r>
          </a:p>
        </p:txBody>
      </p:sp>
      <p:pic>
        <p:nvPicPr>
          <p:cNvPr id="5" name="Content Placeholder 4">
            <a:extLst>
              <a:ext uri="{FF2B5EF4-FFF2-40B4-BE49-F238E27FC236}">
                <a16:creationId xmlns:a16="http://schemas.microsoft.com/office/drawing/2014/main" id="{17CDE94E-E760-A7FF-EFA0-383DA60CDE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03621" y="1067467"/>
            <a:ext cx="4876580" cy="3767137"/>
          </a:xfrm>
          <a:prstGeom prst="rect">
            <a:avLst/>
          </a:prstGeom>
        </p:spPr>
      </p:pic>
      <p:sp>
        <p:nvSpPr>
          <p:cNvPr id="6" name="TextBox 5">
            <a:extLst>
              <a:ext uri="{FF2B5EF4-FFF2-40B4-BE49-F238E27FC236}">
                <a16:creationId xmlns:a16="http://schemas.microsoft.com/office/drawing/2014/main" id="{B2077BD1-1392-BB83-6B6A-97D1A1F25228}"/>
              </a:ext>
            </a:extLst>
          </p:cNvPr>
          <p:cNvSpPr txBox="1"/>
          <p:nvPr/>
        </p:nvSpPr>
        <p:spPr>
          <a:xfrm>
            <a:off x="111798" y="882799"/>
            <a:ext cx="11968403" cy="2862322"/>
          </a:xfrm>
          <a:prstGeom prst="rect">
            <a:avLst/>
          </a:prstGeom>
          <a:noFill/>
        </p:spPr>
        <p:txBody>
          <a:bodyPr wrap="square" rtlCol="0">
            <a:spAutoFit/>
          </a:bodyPr>
          <a:lstStyle/>
          <a:p>
            <a:r>
              <a:rPr lang="en-US" dirty="0"/>
              <a:t>Key Observations from Log-Transformed Distribution</a:t>
            </a:r>
          </a:p>
          <a:p>
            <a:r>
              <a:rPr lang="en-US" dirty="0"/>
              <a:t>Skewness is greatly reduced; distribution is much more spread out and shape</a:t>
            </a:r>
          </a:p>
          <a:p>
            <a:r>
              <a:rPr lang="en-US" dirty="0"/>
              <a:t> is closer to normal(bell-like)</a:t>
            </a:r>
          </a:p>
          <a:p>
            <a:r>
              <a:rPr lang="en-US" dirty="0"/>
              <a:t>Better Data Spread- Values now range between 0 to 10. Differences between </a:t>
            </a:r>
          </a:p>
          <a:p>
            <a:r>
              <a:rPr lang="en-US" dirty="0"/>
              <a:t>products are now visible and comparable</a:t>
            </a:r>
          </a:p>
          <a:p>
            <a:r>
              <a:rPr lang="en-US" dirty="0"/>
              <a:t>Dense Region Around 1-3. Most data points lie between log values 1 to 3. </a:t>
            </a:r>
          </a:p>
          <a:p>
            <a:r>
              <a:rPr lang="en-US" dirty="0"/>
              <a:t>Majority of your products are still low performers (expected in retail)</a:t>
            </a:r>
          </a:p>
          <a:p>
            <a:r>
              <a:rPr lang="en-US" dirty="0"/>
              <a:t>Long Tail Still Exists (But Controlled). </a:t>
            </a:r>
          </a:p>
          <a:p>
            <a:r>
              <a:rPr lang="en-US" dirty="0"/>
              <a:t>High-performing products still exist. But they no longer dominate the dataset</a:t>
            </a:r>
          </a:p>
          <a:p>
            <a:r>
              <a:rPr lang="en-US" dirty="0"/>
              <a:t>Outliers Are Now Managed. Model will treat all data more fairly</a:t>
            </a:r>
          </a:p>
        </p:txBody>
      </p:sp>
    </p:spTree>
    <p:extLst>
      <p:ext uri="{BB962C8B-B14F-4D97-AF65-F5344CB8AC3E}">
        <p14:creationId xmlns:p14="http://schemas.microsoft.com/office/powerpoint/2010/main" val="368745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CCB7-383A-247A-DCDF-069A8CCE11A3}"/>
              </a:ext>
            </a:extLst>
          </p:cNvPr>
          <p:cNvSpPr>
            <a:spLocks noGrp="1"/>
          </p:cNvSpPr>
          <p:nvPr>
            <p:ph type="title"/>
          </p:nvPr>
        </p:nvSpPr>
        <p:spPr>
          <a:xfrm>
            <a:off x="470411" y="0"/>
            <a:ext cx="11279137" cy="796413"/>
          </a:xfrm>
        </p:spPr>
        <p:txBody>
          <a:bodyPr>
            <a:normAutofit fontScale="90000"/>
          </a:bodyPr>
          <a:lstStyle/>
          <a:p>
            <a:r>
              <a:rPr lang="en-IN" dirty="0"/>
              <a:t>		FEATURE ENGINEERING</a:t>
            </a:r>
          </a:p>
        </p:txBody>
      </p:sp>
      <p:sp>
        <p:nvSpPr>
          <p:cNvPr id="3" name="Content Placeholder 2">
            <a:extLst>
              <a:ext uri="{FF2B5EF4-FFF2-40B4-BE49-F238E27FC236}">
                <a16:creationId xmlns:a16="http://schemas.microsoft.com/office/drawing/2014/main" id="{7C309250-A68A-DE11-59E2-1D546E6F9296}"/>
              </a:ext>
            </a:extLst>
          </p:cNvPr>
          <p:cNvSpPr>
            <a:spLocks noGrp="1"/>
          </p:cNvSpPr>
          <p:nvPr>
            <p:ph idx="1"/>
          </p:nvPr>
        </p:nvSpPr>
        <p:spPr>
          <a:xfrm>
            <a:off x="127819" y="796413"/>
            <a:ext cx="12064181" cy="6061587"/>
          </a:xfrm>
        </p:spPr>
        <p:txBody>
          <a:bodyPr>
            <a:normAutofit fontScale="92500" lnSpcReduction="20000"/>
          </a:bodyPr>
          <a:lstStyle/>
          <a:p>
            <a:pPr marL="457200" indent="-457200">
              <a:buFont typeface="+mj-lt"/>
              <a:buAutoNum type="arabicPeriod"/>
            </a:pPr>
            <a:r>
              <a:rPr lang="en-US" dirty="0"/>
              <a:t>The feature engineering phase focused on transforming raw sales data into meaningful product-level attributes that capture different aspects of product behavior. Since the dataset contained transactional records over time, the data was aggregated at the product level to enable effective clustering.</a:t>
            </a:r>
          </a:p>
          <a:p>
            <a:pPr marL="457200" indent="-457200">
              <a:buFont typeface="+mj-lt"/>
              <a:buAutoNum type="arabicPeriod"/>
            </a:pPr>
            <a:r>
              <a:rPr lang="en-US" dirty="0"/>
              <a:t>Key features were created to represent overall demand, including total sales, average sales, and sales variability. These features help distinguish between high-performing and low-performing products, as well as identify fluctuations in demand.</a:t>
            </a:r>
          </a:p>
          <a:p>
            <a:pPr marL="457200" indent="-457200">
              <a:buFont typeface="+mj-lt"/>
              <a:buAutoNum type="arabicPeriod"/>
            </a:pPr>
            <a:r>
              <a:rPr lang="en-US" dirty="0"/>
              <a:t>To capture demand intensity and product activity, additional features such as sales per month and active months were introduced. These metrics provide insights into how frequently a product is sold and its lifecycle behavior.</a:t>
            </a:r>
          </a:p>
          <a:p>
            <a:pPr marL="457200" indent="-457200">
              <a:buFont typeface="+mj-lt"/>
              <a:buAutoNum type="arabicPeriod"/>
            </a:pPr>
            <a:r>
              <a:rPr lang="en-US" dirty="0"/>
              <a:t>Channel contribution was analyzed by creating ratio-based features such as retail sales ratio and warehouse sales ratio, which indicate the relative importance of different sales channels for each product.</a:t>
            </a:r>
          </a:p>
          <a:p>
            <a:pPr marL="457200" indent="-457200">
              <a:buFont typeface="+mj-lt"/>
              <a:buAutoNum type="arabicPeriod"/>
            </a:pPr>
            <a:r>
              <a:rPr lang="en-US" dirty="0"/>
              <a:t>A seasonality indicator was also developed using the coefficient of variation, allowing the identification of products with stable versus fluctuating demand patterns. Additionally, a returns-related feature was included to capture negative adjustments in warehouse sales, preserving important business signals.</a:t>
            </a:r>
          </a:p>
          <a:p>
            <a:pPr marL="457200" indent="-457200">
              <a:buFont typeface="+mj-lt"/>
              <a:buAutoNum type="arabicPeriod"/>
            </a:pPr>
            <a:r>
              <a:rPr lang="en-US" dirty="0"/>
              <a:t>To address skewness in sales data, log transformations were applied to key numerical features, improving data distribution and enhancing clustering performance.</a:t>
            </a:r>
          </a:p>
          <a:p>
            <a:pPr marL="457200" indent="-457200">
              <a:buFont typeface="+mj-lt"/>
              <a:buAutoNum type="arabicPeriod"/>
            </a:pPr>
            <a:r>
              <a:rPr lang="en-US" dirty="0"/>
              <a:t>Overall, feature engineering enabled the creation of a comprehensive product behavior profile, significantly improving the effectiveness and interpretability of the clustering model.</a:t>
            </a:r>
            <a:endParaRPr lang="en-IN" dirty="0"/>
          </a:p>
        </p:txBody>
      </p:sp>
    </p:spTree>
    <p:extLst>
      <p:ext uri="{BB962C8B-B14F-4D97-AF65-F5344CB8AC3E}">
        <p14:creationId xmlns:p14="http://schemas.microsoft.com/office/powerpoint/2010/main" val="3419153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16E2C0-894A-E807-B644-3243E8C49595}"/>
              </a:ext>
            </a:extLst>
          </p:cNvPr>
          <p:cNvSpPr>
            <a:spLocks noGrp="1"/>
          </p:cNvSpPr>
          <p:nvPr>
            <p:ph idx="1"/>
          </p:nvPr>
        </p:nvSpPr>
        <p:spPr>
          <a:xfrm>
            <a:off x="0" y="104775"/>
            <a:ext cx="12192000" cy="6753225"/>
          </a:xfrm>
        </p:spPr>
        <p:txBody>
          <a:bodyPr>
            <a:normAutofit/>
          </a:bodyPr>
          <a:lstStyle/>
          <a:p>
            <a:r>
              <a:rPr lang="en-US" dirty="0"/>
              <a:t>The following features were engineered at the product (</a:t>
            </a:r>
            <a:r>
              <a:rPr lang="en-US" dirty="0" err="1"/>
              <a:t>item_code</a:t>
            </a:r>
            <a:r>
              <a:rPr lang="en-US" dirty="0"/>
              <a:t>) level to capture demand, variability, and behavior patterns:</a:t>
            </a:r>
          </a:p>
          <a:p>
            <a:r>
              <a:rPr lang="en-US" b="1" dirty="0"/>
              <a:t>1. Total Sales (Demand)-Total Sales of a product across all periods</a:t>
            </a:r>
            <a:br>
              <a:rPr lang="en-US" dirty="0"/>
            </a:br>
            <a:r>
              <a:rPr lang="en-US" dirty="0" err="1"/>
              <a:t>Total_Sales_Sum</a:t>
            </a:r>
            <a:r>
              <a:rPr lang="en-US" dirty="0"/>
              <a:t> = Sum of </a:t>
            </a:r>
            <a:r>
              <a:rPr lang="en-US" dirty="0" err="1"/>
              <a:t>total_sales</a:t>
            </a:r>
            <a:r>
              <a:rPr lang="en-US" dirty="0"/>
              <a:t> for each product</a:t>
            </a:r>
          </a:p>
          <a:p>
            <a:r>
              <a:rPr lang="en-US" b="1" dirty="0"/>
              <a:t>2. Average Sales (Typical Performance)- Average Sales per time </a:t>
            </a:r>
            <a:r>
              <a:rPr lang="en-US" b="1" dirty="0" err="1"/>
              <a:t>perod</a:t>
            </a:r>
            <a:r>
              <a:rPr lang="en-US" b="1" dirty="0"/>
              <a:t> for a product</a:t>
            </a:r>
            <a:br>
              <a:rPr lang="en-US" dirty="0"/>
            </a:br>
            <a:r>
              <a:rPr lang="en-US" dirty="0" err="1"/>
              <a:t>Total_Sales_Avg</a:t>
            </a:r>
            <a:r>
              <a:rPr lang="en-US" dirty="0"/>
              <a:t> = </a:t>
            </a:r>
            <a:r>
              <a:rPr lang="en-US" dirty="0" err="1"/>
              <a:t>Total_Sales_Sum</a:t>
            </a:r>
            <a:r>
              <a:rPr lang="en-US" dirty="0"/>
              <a:t> / Number of records for that product</a:t>
            </a:r>
          </a:p>
          <a:p>
            <a:r>
              <a:rPr lang="en-US" b="1" dirty="0"/>
              <a:t>3. Sales Variability (Demand Fluctuation)- How much sales fluctuate over time</a:t>
            </a:r>
            <a:br>
              <a:rPr lang="en-US" dirty="0"/>
            </a:br>
            <a:r>
              <a:rPr lang="en-US" dirty="0" err="1"/>
              <a:t>Sales_Variability</a:t>
            </a:r>
            <a:r>
              <a:rPr lang="en-US" dirty="0"/>
              <a:t> = Standard deviation of </a:t>
            </a:r>
            <a:r>
              <a:rPr lang="en-US" dirty="0" err="1"/>
              <a:t>total_sales</a:t>
            </a:r>
            <a:r>
              <a:rPr lang="en-US" dirty="0"/>
              <a:t> for each product</a:t>
            </a:r>
          </a:p>
          <a:p>
            <a:r>
              <a:rPr lang="en-US" b="1" dirty="0"/>
              <a:t>4. Active Months (Product Lifecycle)- Number of unique months in which a product had sales</a:t>
            </a:r>
            <a:br>
              <a:rPr lang="en-US" dirty="0"/>
            </a:br>
            <a:r>
              <a:rPr lang="en-US" dirty="0" err="1"/>
              <a:t>Active_Months</a:t>
            </a:r>
            <a:r>
              <a:rPr lang="en-US" dirty="0"/>
              <a:t> = Number of unique months in which the product appears</a:t>
            </a:r>
          </a:p>
          <a:p>
            <a:r>
              <a:rPr lang="en-US" b="1" dirty="0"/>
              <a:t>5. Sales per Month (Demand Intensity)-Average monthly sales of a product, representing how frequently and strongly it sells.</a:t>
            </a:r>
            <a:br>
              <a:rPr lang="en-US" dirty="0"/>
            </a:br>
            <a:r>
              <a:rPr lang="en-US" dirty="0" err="1"/>
              <a:t>Sales_Per_Month</a:t>
            </a:r>
            <a:r>
              <a:rPr lang="en-US" dirty="0"/>
              <a:t> = </a:t>
            </a:r>
            <a:r>
              <a:rPr lang="en-US" dirty="0" err="1"/>
              <a:t>Total_Sales_Sum</a:t>
            </a:r>
            <a:r>
              <a:rPr lang="en-US" dirty="0"/>
              <a:t> / (</a:t>
            </a:r>
            <a:r>
              <a:rPr lang="en-US" dirty="0" err="1"/>
              <a:t>Active_Months</a:t>
            </a:r>
            <a:r>
              <a:rPr lang="en-US" dirty="0"/>
              <a:t> + 1)</a:t>
            </a:r>
          </a:p>
          <a:p>
            <a:r>
              <a:rPr lang="en-US" b="1" dirty="0"/>
              <a:t>6. Retail Contribution Ratio- Proportion of total sales generated through the retail channel</a:t>
            </a:r>
            <a:br>
              <a:rPr lang="en-US" dirty="0"/>
            </a:br>
            <a:r>
              <a:rPr lang="en-US" dirty="0" err="1"/>
              <a:t>Retail_Ratio</a:t>
            </a:r>
            <a:r>
              <a:rPr lang="en-US" dirty="0"/>
              <a:t> = </a:t>
            </a:r>
            <a:r>
              <a:rPr lang="en-US" dirty="0" err="1"/>
              <a:t>Retail_Sales_Sum</a:t>
            </a:r>
            <a:r>
              <a:rPr lang="en-US" dirty="0"/>
              <a:t> / (</a:t>
            </a:r>
            <a:r>
              <a:rPr lang="en-US" dirty="0" err="1"/>
              <a:t>Total_Sales_Sum</a:t>
            </a:r>
            <a:r>
              <a:rPr lang="en-US" dirty="0"/>
              <a:t> + 1)</a:t>
            </a:r>
          </a:p>
          <a:p>
            <a:r>
              <a:rPr lang="en-US" b="1" dirty="0"/>
              <a:t>7. Warehouse Contribution Ratio- Proportion of total sales contributed by warehouse transactions</a:t>
            </a:r>
            <a:br>
              <a:rPr lang="en-US" dirty="0"/>
            </a:br>
            <a:r>
              <a:rPr lang="en-US" dirty="0"/>
              <a:t>Warehouse_Ratio = </a:t>
            </a:r>
            <a:r>
              <a:rPr lang="en-US" dirty="0" err="1"/>
              <a:t>Warehouse_Sales_Sum</a:t>
            </a:r>
            <a:r>
              <a:rPr lang="en-US" dirty="0"/>
              <a:t> / (</a:t>
            </a:r>
            <a:r>
              <a:rPr lang="en-US" dirty="0" err="1"/>
              <a:t>Total_Sales_Sum</a:t>
            </a:r>
            <a:r>
              <a:rPr lang="en-US" dirty="0"/>
              <a:t> + 1)</a:t>
            </a:r>
          </a:p>
          <a:p>
            <a:endParaRPr lang="en-IN" dirty="0"/>
          </a:p>
        </p:txBody>
      </p:sp>
    </p:spTree>
    <p:extLst>
      <p:ext uri="{BB962C8B-B14F-4D97-AF65-F5344CB8AC3E}">
        <p14:creationId xmlns:p14="http://schemas.microsoft.com/office/powerpoint/2010/main" val="335218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3DD40A-96BE-FD93-29B7-0E0E13BCB88F}"/>
              </a:ext>
            </a:extLst>
          </p:cNvPr>
          <p:cNvSpPr>
            <a:spLocks noGrp="1"/>
          </p:cNvSpPr>
          <p:nvPr>
            <p:ph idx="1"/>
          </p:nvPr>
        </p:nvSpPr>
        <p:spPr>
          <a:xfrm>
            <a:off x="165379" y="133719"/>
            <a:ext cx="11947963" cy="6650539"/>
          </a:xfrm>
        </p:spPr>
        <p:txBody>
          <a:bodyPr>
            <a:normAutofit fontScale="92500" lnSpcReduction="20000"/>
          </a:bodyPr>
          <a:lstStyle/>
          <a:p>
            <a:r>
              <a:rPr lang="en-US" b="1" dirty="0"/>
              <a:t>8. Seasonality Indicator (Variability Index)- Measures how much a product’s sales fluctuate over time, indicating stability or seasonality</a:t>
            </a:r>
            <a:br>
              <a:rPr lang="en-US" dirty="0"/>
            </a:br>
            <a:r>
              <a:rPr lang="en-US" dirty="0" err="1"/>
              <a:t>CV_Sales</a:t>
            </a:r>
            <a:r>
              <a:rPr lang="en-US" dirty="0"/>
              <a:t> = </a:t>
            </a:r>
            <a:r>
              <a:rPr lang="en-US" dirty="0" err="1"/>
              <a:t>Sales_Variability</a:t>
            </a:r>
            <a:r>
              <a:rPr lang="en-US" dirty="0"/>
              <a:t> / (</a:t>
            </a:r>
            <a:r>
              <a:rPr lang="en-US" dirty="0" err="1"/>
              <a:t>Total_Sales_Avg</a:t>
            </a:r>
            <a:r>
              <a:rPr lang="en-US" dirty="0"/>
              <a:t> + 1)</a:t>
            </a:r>
          </a:p>
          <a:p>
            <a:r>
              <a:rPr lang="en-US" b="1" dirty="0"/>
              <a:t>9. Returns Indicator- Capture the number of instances where products experienced negative warehouse sales(returns or adjustments)</a:t>
            </a:r>
            <a:br>
              <a:rPr lang="en-US" dirty="0"/>
            </a:br>
            <a:r>
              <a:rPr lang="en-US" dirty="0" err="1"/>
              <a:t>Total_Returns</a:t>
            </a:r>
            <a:r>
              <a:rPr lang="en-US" dirty="0"/>
              <a:t> = Count of instances where </a:t>
            </a:r>
            <a:r>
              <a:rPr lang="en-US" dirty="0" err="1"/>
              <a:t>warehouse_sales</a:t>
            </a:r>
            <a:r>
              <a:rPr lang="en-US" dirty="0"/>
              <a:t> &lt; 0</a:t>
            </a:r>
          </a:p>
          <a:p>
            <a:r>
              <a:rPr lang="en-IN" b="1" dirty="0"/>
              <a:t>10. Log Transformation (Skewness Handling)- Reduces Skewness in data by compressing large values to improve model </a:t>
            </a:r>
            <a:r>
              <a:rPr lang="en-IN" b="1" dirty="0" err="1"/>
              <a:t>performence</a:t>
            </a:r>
            <a:br>
              <a:rPr lang="en-IN" dirty="0"/>
            </a:br>
            <a:r>
              <a:rPr lang="en-IN" dirty="0" err="1"/>
              <a:t>Log_Value</a:t>
            </a:r>
            <a:r>
              <a:rPr lang="en-IN" dirty="0"/>
              <a:t> = log(1 + </a:t>
            </a:r>
            <a:r>
              <a:rPr lang="en-IN" dirty="0" err="1"/>
              <a:t>Feature_Value</a:t>
            </a:r>
            <a:r>
              <a:rPr lang="en-IN" dirty="0"/>
              <a:t>)</a:t>
            </a:r>
          </a:p>
          <a:p>
            <a:r>
              <a:rPr lang="en-US" dirty="0"/>
              <a:t>Applied to:</a:t>
            </a:r>
          </a:p>
          <a:p>
            <a:r>
              <a:rPr lang="en-US" dirty="0" err="1"/>
              <a:t>Total_Sales_Sum</a:t>
            </a:r>
            <a:endParaRPr lang="en-US" dirty="0"/>
          </a:p>
          <a:p>
            <a:r>
              <a:rPr lang="en-US" dirty="0" err="1"/>
              <a:t>Retail_Sales_Sum</a:t>
            </a:r>
            <a:endParaRPr lang="en-US" dirty="0"/>
          </a:p>
          <a:p>
            <a:r>
              <a:rPr lang="en-US" dirty="0" err="1"/>
              <a:t>Warehouse_Sales_Sum</a:t>
            </a:r>
            <a:endParaRPr lang="en-US" dirty="0"/>
          </a:p>
          <a:p>
            <a:r>
              <a:rPr lang="en-US" dirty="0" err="1"/>
              <a:t>Sales_Per_Month</a:t>
            </a:r>
            <a:endParaRPr lang="en-US" dirty="0"/>
          </a:p>
          <a:p>
            <a:r>
              <a:rPr lang="en-US" b="1" dirty="0"/>
              <a:t>11. Activity Flag- Indicates whether a product is actively sold across multiple months or not</a:t>
            </a:r>
            <a:br>
              <a:rPr lang="en-US" dirty="0"/>
            </a:br>
            <a:r>
              <a:rPr lang="en-US" dirty="0" err="1"/>
              <a:t>Is_Active</a:t>
            </a:r>
            <a:r>
              <a:rPr lang="en-US" dirty="0"/>
              <a:t> = 1 if </a:t>
            </a:r>
            <a:r>
              <a:rPr lang="en-US" dirty="0" err="1"/>
              <a:t>Active_Months</a:t>
            </a:r>
            <a:r>
              <a:rPr lang="en-US" dirty="0"/>
              <a:t> &gt; 6, else 0</a:t>
            </a:r>
          </a:p>
          <a:p>
            <a:r>
              <a:rPr lang="en-US" b="1" dirty="0"/>
              <a:t>Finally  5 important Features were kept in for model training- </a:t>
            </a:r>
            <a:r>
              <a:rPr lang="en-US" b="1" dirty="0" err="1"/>
              <a:t>Sales_per_month</a:t>
            </a:r>
            <a:r>
              <a:rPr lang="en-US" b="1" dirty="0"/>
              <a:t>, </a:t>
            </a:r>
            <a:r>
              <a:rPr lang="en-US" b="1" dirty="0" err="1"/>
              <a:t>cv_sales</a:t>
            </a:r>
            <a:r>
              <a:rPr lang="en-US" b="1" dirty="0"/>
              <a:t>, </a:t>
            </a:r>
            <a:r>
              <a:rPr lang="en-US" b="1" dirty="0" err="1"/>
              <a:t>retail_ratio</a:t>
            </a:r>
            <a:r>
              <a:rPr lang="en-US" b="1" dirty="0"/>
              <a:t>, </a:t>
            </a:r>
            <a:r>
              <a:rPr lang="en-US" b="1" dirty="0" err="1"/>
              <a:t>warehouse_ratio</a:t>
            </a:r>
            <a:r>
              <a:rPr lang="en-US" b="1" dirty="0"/>
              <a:t>, </a:t>
            </a:r>
            <a:r>
              <a:rPr lang="en-US" b="1" dirty="0" err="1"/>
              <a:t>active_months</a:t>
            </a:r>
            <a:endParaRPr lang="en-US" b="1" dirty="0"/>
          </a:p>
          <a:p>
            <a:r>
              <a:rPr lang="en-US" dirty="0"/>
              <a:t>These features collectively represent product demand, stability, channel contribution, and lifecycle behavior.</a:t>
            </a:r>
          </a:p>
          <a:p>
            <a:endParaRPr lang="en-IN" dirty="0"/>
          </a:p>
        </p:txBody>
      </p:sp>
    </p:spTree>
    <p:extLst>
      <p:ext uri="{BB962C8B-B14F-4D97-AF65-F5344CB8AC3E}">
        <p14:creationId xmlns:p14="http://schemas.microsoft.com/office/powerpoint/2010/main" val="1132225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94044-0362-4CC7-E436-A2CD18425364}"/>
              </a:ext>
            </a:extLst>
          </p:cNvPr>
          <p:cNvSpPr>
            <a:spLocks noGrp="1"/>
          </p:cNvSpPr>
          <p:nvPr>
            <p:ph type="title"/>
          </p:nvPr>
        </p:nvSpPr>
        <p:spPr>
          <a:xfrm>
            <a:off x="676656" y="0"/>
            <a:ext cx="10315809" cy="825910"/>
          </a:xfrm>
        </p:spPr>
        <p:txBody>
          <a:bodyPr>
            <a:normAutofit/>
          </a:bodyPr>
          <a:lstStyle/>
          <a:p>
            <a:r>
              <a:rPr lang="en-IN" dirty="0"/>
              <a:t>	FEATURE CORRELATION HEATMAP</a:t>
            </a:r>
          </a:p>
        </p:txBody>
      </p:sp>
      <p:pic>
        <p:nvPicPr>
          <p:cNvPr id="5" name="Content Placeholder 4">
            <a:extLst>
              <a:ext uri="{FF2B5EF4-FFF2-40B4-BE49-F238E27FC236}">
                <a16:creationId xmlns:a16="http://schemas.microsoft.com/office/drawing/2014/main" id="{350B0AAF-4AD5-6A5A-D6AB-EB81F33B49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04471" y="703673"/>
            <a:ext cx="4428842" cy="3767137"/>
          </a:xfrm>
          <a:prstGeom prst="rect">
            <a:avLst/>
          </a:prstGeom>
        </p:spPr>
      </p:pic>
      <p:sp>
        <p:nvSpPr>
          <p:cNvPr id="6" name="TextBox 5">
            <a:extLst>
              <a:ext uri="{FF2B5EF4-FFF2-40B4-BE49-F238E27FC236}">
                <a16:creationId xmlns:a16="http://schemas.microsoft.com/office/drawing/2014/main" id="{CB48A247-A350-6CAF-9766-1963E9189414}"/>
              </a:ext>
            </a:extLst>
          </p:cNvPr>
          <p:cNvSpPr txBox="1"/>
          <p:nvPr/>
        </p:nvSpPr>
        <p:spPr>
          <a:xfrm>
            <a:off x="35098" y="825910"/>
            <a:ext cx="12121803" cy="5909310"/>
          </a:xfrm>
          <a:prstGeom prst="rect">
            <a:avLst/>
          </a:prstGeom>
          <a:noFill/>
        </p:spPr>
        <p:txBody>
          <a:bodyPr wrap="square" rtlCol="0">
            <a:spAutoFit/>
          </a:bodyPr>
          <a:lstStyle/>
          <a:p>
            <a:pPr marL="342900" indent="-342900">
              <a:buAutoNum type="arabicPeriod"/>
            </a:pPr>
            <a:r>
              <a:rPr lang="en-US" b="1" dirty="0"/>
              <a:t>Sales Features Are Highly Correlated</a:t>
            </a:r>
          </a:p>
          <a:p>
            <a:r>
              <a:rPr lang="en-US" dirty="0" err="1"/>
              <a:t>total_sales_sum</a:t>
            </a:r>
            <a:r>
              <a:rPr lang="en-US" dirty="0"/>
              <a:t> ↔ </a:t>
            </a:r>
            <a:r>
              <a:rPr lang="en-US" dirty="0" err="1"/>
              <a:t>retail_sales_sum</a:t>
            </a:r>
            <a:r>
              <a:rPr lang="en-US" dirty="0"/>
              <a:t> → </a:t>
            </a:r>
            <a:r>
              <a:rPr lang="en-US" b="1" dirty="0"/>
              <a:t>High positive</a:t>
            </a:r>
          </a:p>
          <a:p>
            <a:r>
              <a:rPr lang="en-US" dirty="0" err="1"/>
              <a:t>total_sales_sum</a:t>
            </a:r>
            <a:r>
              <a:rPr lang="en-US" dirty="0"/>
              <a:t> ↔ </a:t>
            </a:r>
            <a:r>
              <a:rPr lang="en-US" dirty="0" err="1"/>
              <a:t>warehouse_sales_sum</a:t>
            </a:r>
            <a:r>
              <a:rPr lang="en-US" dirty="0"/>
              <a:t> → </a:t>
            </a:r>
            <a:r>
              <a:rPr lang="en-US" b="1" dirty="0"/>
              <a:t>High positive</a:t>
            </a:r>
          </a:p>
          <a:p>
            <a:r>
              <a:rPr lang="en-US" dirty="0" err="1"/>
              <a:t>total_sales_sum</a:t>
            </a:r>
            <a:r>
              <a:rPr lang="en-US" dirty="0"/>
              <a:t> ↔ </a:t>
            </a:r>
            <a:r>
              <a:rPr lang="en-US" dirty="0" err="1"/>
              <a:t>sales_per_month</a:t>
            </a:r>
            <a:r>
              <a:rPr lang="en-US" dirty="0"/>
              <a:t> → </a:t>
            </a:r>
            <a:r>
              <a:rPr lang="en-US" b="1" dirty="0"/>
              <a:t>Very high</a:t>
            </a:r>
          </a:p>
          <a:p>
            <a:r>
              <a:rPr lang="en-US" dirty="0"/>
              <a:t>Represent overall demand </a:t>
            </a:r>
          </a:p>
          <a:p>
            <a:r>
              <a:rPr lang="en-US" dirty="0"/>
              <a:t>May introduce redundancy </a:t>
            </a:r>
          </a:p>
          <a:p>
            <a:r>
              <a:rPr lang="en-US" dirty="0"/>
              <a:t>These features are </a:t>
            </a:r>
            <a:r>
              <a:rPr lang="en-US" b="1" dirty="0"/>
              <a:t>capturing the same demand signal</a:t>
            </a:r>
          </a:p>
          <a:p>
            <a:r>
              <a:rPr lang="en-US" dirty="0"/>
              <a:t>High sales products perform consistently across channels</a:t>
            </a:r>
          </a:p>
          <a:p>
            <a:r>
              <a:rPr lang="en-US" dirty="0" err="1"/>
              <a:t>sales_per_month</a:t>
            </a:r>
            <a:r>
              <a:rPr lang="en-US" dirty="0"/>
              <a:t> is a strong indicator of product performance</a:t>
            </a:r>
          </a:p>
          <a:p>
            <a:endParaRPr lang="en-US" dirty="0"/>
          </a:p>
          <a:p>
            <a:r>
              <a:rPr lang="en-US" b="1" dirty="0"/>
              <a:t>2. Channel Ratios Provide Strong Differentiation</a:t>
            </a:r>
          </a:p>
          <a:p>
            <a:r>
              <a:rPr lang="en-US" dirty="0" err="1"/>
              <a:t>retail_ratio</a:t>
            </a:r>
            <a:r>
              <a:rPr lang="en-US" dirty="0"/>
              <a:t> ↔ </a:t>
            </a:r>
            <a:r>
              <a:rPr lang="en-US" dirty="0" err="1"/>
              <a:t>warehouse_ratio</a:t>
            </a:r>
            <a:r>
              <a:rPr lang="en-US" dirty="0"/>
              <a:t> → </a:t>
            </a:r>
            <a:r>
              <a:rPr lang="en-US" b="1" dirty="0"/>
              <a:t>Strong negative (~ -0.7 to -0.8)</a:t>
            </a:r>
          </a:p>
          <a:p>
            <a:r>
              <a:rPr lang="en-US" dirty="0"/>
              <a:t>If retail share increases → warehouse share decreases</a:t>
            </a:r>
            <a:endParaRPr lang="en-US" b="1" dirty="0"/>
          </a:p>
          <a:p>
            <a:r>
              <a:rPr lang="en-US" dirty="0"/>
              <a:t>Retail vs Warehouse clearly separates products</a:t>
            </a:r>
          </a:p>
          <a:p>
            <a:endParaRPr lang="en-US" dirty="0"/>
          </a:p>
          <a:p>
            <a:r>
              <a:rPr lang="en-US" b="1" dirty="0"/>
              <a:t>3. Variability Captures Seasonality</a:t>
            </a:r>
          </a:p>
          <a:p>
            <a:r>
              <a:rPr lang="en-US" dirty="0" err="1"/>
              <a:t>cv_sales</a:t>
            </a:r>
            <a:r>
              <a:rPr lang="en-US" dirty="0"/>
              <a:t> has </a:t>
            </a:r>
            <a:r>
              <a:rPr lang="en-US" b="1" dirty="0"/>
              <a:t>low/moderate correlation with total sales</a:t>
            </a:r>
          </a:p>
          <a:p>
            <a:r>
              <a:rPr lang="en-IN" dirty="0"/>
              <a:t>Some products are High sales with stable variability , while others are High sales with volatility </a:t>
            </a:r>
            <a:endParaRPr lang="en-US" b="1" dirty="0"/>
          </a:p>
          <a:p>
            <a:r>
              <a:rPr lang="en-US" dirty="0"/>
              <a:t>Independent of sales volume </a:t>
            </a:r>
          </a:p>
          <a:p>
            <a:r>
              <a:rPr lang="en-US" dirty="0"/>
              <a:t>Important for clustering for seasonal products</a:t>
            </a:r>
          </a:p>
          <a:p>
            <a:endParaRPr lang="en-US" dirty="0"/>
          </a:p>
        </p:txBody>
      </p:sp>
    </p:spTree>
    <p:extLst>
      <p:ext uri="{BB962C8B-B14F-4D97-AF65-F5344CB8AC3E}">
        <p14:creationId xmlns:p14="http://schemas.microsoft.com/office/powerpoint/2010/main" val="2539356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9D124B-BA0F-EA96-B089-AF87CF79C9DF}"/>
              </a:ext>
            </a:extLst>
          </p:cNvPr>
          <p:cNvSpPr>
            <a:spLocks noGrp="1"/>
          </p:cNvSpPr>
          <p:nvPr>
            <p:ph idx="1"/>
          </p:nvPr>
        </p:nvSpPr>
        <p:spPr>
          <a:xfrm>
            <a:off x="0" y="78658"/>
            <a:ext cx="12192000" cy="6779342"/>
          </a:xfrm>
        </p:spPr>
        <p:txBody>
          <a:bodyPr>
            <a:normAutofit/>
          </a:bodyPr>
          <a:lstStyle/>
          <a:p>
            <a:r>
              <a:rPr lang="en-US" sz="2000" b="1" dirty="0"/>
              <a:t>4. Product Activity Drives Revenue</a:t>
            </a:r>
          </a:p>
          <a:p>
            <a:r>
              <a:rPr lang="en-US" sz="2000" dirty="0" err="1"/>
              <a:t>active_months</a:t>
            </a:r>
            <a:r>
              <a:rPr lang="en-US" sz="2000" dirty="0"/>
              <a:t> ↔ </a:t>
            </a:r>
            <a:r>
              <a:rPr lang="en-US" sz="2000" dirty="0" err="1"/>
              <a:t>total_sales_sum</a:t>
            </a:r>
            <a:r>
              <a:rPr lang="en-US" sz="2000" dirty="0"/>
              <a:t> → </a:t>
            </a:r>
            <a:r>
              <a:rPr lang="en-US" sz="2000" b="1" dirty="0"/>
              <a:t>Strong positive</a:t>
            </a:r>
          </a:p>
          <a:p>
            <a:r>
              <a:rPr lang="en-US" sz="2000" dirty="0"/>
              <a:t>Products sold more months → higher total sales</a:t>
            </a:r>
            <a:endParaRPr lang="en-US" sz="2000" b="1" dirty="0"/>
          </a:p>
          <a:p>
            <a:r>
              <a:rPr lang="en-US" sz="2000" dirty="0"/>
              <a:t>More active months → higher sales </a:t>
            </a:r>
          </a:p>
          <a:p>
            <a:r>
              <a:rPr lang="en-US" sz="2000" b="1" dirty="0"/>
              <a:t> 5. Returns Are Independent Signal</a:t>
            </a:r>
          </a:p>
          <a:p>
            <a:r>
              <a:rPr lang="en-US" sz="2000" dirty="0"/>
              <a:t>Useful for identifying problematic products . Weak correlation with most features</a:t>
            </a:r>
          </a:p>
          <a:p>
            <a:r>
              <a:rPr lang="en-IN" sz="2000" dirty="0"/>
              <a:t>Returns are </a:t>
            </a:r>
            <a:r>
              <a:rPr lang="en-IN" sz="2000" b="1" dirty="0"/>
              <a:t>independent </a:t>
            </a:r>
            <a:r>
              <a:rPr lang="en-IN" sz="2000" b="1" dirty="0" err="1"/>
              <a:t>behavior</a:t>
            </a:r>
            <a:r>
              <a:rPr lang="en-IN" sz="2000" b="1" dirty="0"/>
              <a:t>. </a:t>
            </a:r>
            <a:r>
              <a:rPr lang="en-US" sz="2000" dirty="0"/>
              <a:t>Returns do not directly depend on sales volume</a:t>
            </a:r>
          </a:p>
          <a:p>
            <a:r>
              <a:rPr lang="en-US" sz="2000" dirty="0"/>
              <a:t>It indicate Quality issues or Logistical problems</a:t>
            </a:r>
            <a:endParaRPr lang="en-IN" sz="2000" dirty="0"/>
          </a:p>
          <a:p>
            <a:r>
              <a:rPr lang="en-IN" sz="2000" b="1" dirty="0"/>
              <a:t>6. </a:t>
            </a:r>
            <a:r>
              <a:rPr lang="en-IN" sz="2000" b="1" dirty="0" err="1"/>
              <a:t>is_active</a:t>
            </a:r>
            <a:r>
              <a:rPr lang="en-IN" sz="2000" b="1" dirty="0"/>
              <a:t> Feature</a:t>
            </a:r>
          </a:p>
          <a:p>
            <a:r>
              <a:rPr lang="en-IN" sz="2000" dirty="0"/>
              <a:t>Strong correlation with </a:t>
            </a:r>
            <a:r>
              <a:rPr lang="en-IN" sz="2000" dirty="0" err="1"/>
              <a:t>active_months</a:t>
            </a:r>
            <a:r>
              <a:rPr lang="en-IN" sz="2000" dirty="0"/>
              <a:t> and Sales features. Active products = higher sales</a:t>
            </a:r>
          </a:p>
          <a:p>
            <a:r>
              <a:rPr lang="en-IN" sz="2000" dirty="0"/>
              <a:t>Active inventory drives business, Inactive products = dead stock</a:t>
            </a:r>
            <a:endParaRPr lang="en-US" sz="2000" dirty="0"/>
          </a:p>
          <a:p>
            <a:r>
              <a:rPr lang="en-US" sz="2000" dirty="0"/>
              <a:t>Correlation analysis revealed strong relationships among sales-related features, indicating redundancy in demand metrics. Channel contribution ratios showed strong inverse relationships, providing clear differentiation between retail-driven and warehouse-driven products. Variability and returns emerged as independent features, capturing unique aspects of product behavior.</a:t>
            </a:r>
            <a:endParaRPr lang="en-IN" sz="2000" dirty="0"/>
          </a:p>
        </p:txBody>
      </p:sp>
    </p:spTree>
    <p:extLst>
      <p:ext uri="{BB962C8B-B14F-4D97-AF65-F5344CB8AC3E}">
        <p14:creationId xmlns:p14="http://schemas.microsoft.com/office/powerpoint/2010/main" val="825455038"/>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3C381-A3E1-EDAE-2F5F-4B56D64E262E}"/>
              </a:ext>
            </a:extLst>
          </p:cNvPr>
          <p:cNvSpPr>
            <a:spLocks noGrp="1"/>
          </p:cNvSpPr>
          <p:nvPr>
            <p:ph type="title"/>
          </p:nvPr>
        </p:nvSpPr>
        <p:spPr>
          <a:xfrm>
            <a:off x="709612" y="0"/>
            <a:ext cx="10450001" cy="1080135"/>
          </a:xfrm>
        </p:spPr>
        <p:txBody>
          <a:bodyPr/>
          <a:lstStyle/>
          <a:p>
            <a:r>
              <a:rPr lang="en-IN" dirty="0"/>
              <a:t>	EXPLORATORY DATA ANALYSIS(EDA)</a:t>
            </a:r>
          </a:p>
        </p:txBody>
      </p:sp>
      <p:sp>
        <p:nvSpPr>
          <p:cNvPr id="3" name="Content Placeholder 2">
            <a:extLst>
              <a:ext uri="{FF2B5EF4-FFF2-40B4-BE49-F238E27FC236}">
                <a16:creationId xmlns:a16="http://schemas.microsoft.com/office/drawing/2014/main" id="{AC47E238-8B12-9A7D-D8E6-2A96DD5C07A3}"/>
              </a:ext>
            </a:extLst>
          </p:cNvPr>
          <p:cNvSpPr>
            <a:spLocks noGrp="1"/>
          </p:cNvSpPr>
          <p:nvPr>
            <p:ph idx="1"/>
          </p:nvPr>
        </p:nvSpPr>
        <p:spPr>
          <a:xfrm>
            <a:off x="0" y="931545"/>
            <a:ext cx="12192000" cy="5926455"/>
          </a:xfrm>
        </p:spPr>
        <p:txBody>
          <a:bodyPr>
            <a:normAutofit lnSpcReduction="10000"/>
          </a:bodyPr>
          <a:lstStyle/>
          <a:p>
            <a:pPr marL="457200" indent="-457200">
              <a:buFont typeface="+mj-lt"/>
              <a:buAutoNum type="arabicPeriod"/>
            </a:pPr>
            <a:r>
              <a:rPr lang="en-US" dirty="0"/>
              <a:t>The exploratory data analysis phase focused on understanding the structure, distribution, and underlying patterns within the dataset to guide subsequent modeling steps.</a:t>
            </a:r>
          </a:p>
          <a:p>
            <a:pPr marL="457200" indent="-457200">
              <a:buFont typeface="+mj-lt"/>
              <a:buAutoNum type="arabicPeriod"/>
            </a:pPr>
            <a:r>
              <a:rPr lang="en-US" dirty="0"/>
              <a:t>Initial analysis involved examining the dataset structure, data types, and data quality to ensure readiness for analysis. Summary statistics were used to evaluate central tendencies and variability in key numerical features such as total sales, retail sales, and warehouse sales.</a:t>
            </a:r>
          </a:p>
          <a:p>
            <a:pPr marL="457200" indent="-457200">
              <a:buFont typeface="+mj-lt"/>
              <a:buAutoNum type="arabicPeriod"/>
            </a:pPr>
            <a:r>
              <a:rPr lang="en-US" dirty="0"/>
              <a:t>The distribution of sales data revealed a highly right-skewed pattern, indicating that a small number of products contribute significantly to overall revenue, while the majority of products have relatively low sales. This insight highlighted the need for data transformation techniques to normalize the distribution.</a:t>
            </a:r>
          </a:p>
          <a:p>
            <a:pPr marL="457200" indent="-457200">
              <a:buFont typeface="+mj-lt"/>
              <a:buAutoNum type="arabicPeriod"/>
            </a:pPr>
            <a:r>
              <a:rPr lang="en-US" dirty="0"/>
              <a:t>Outlier analysis further confirmed the presence of extreme values in sales variables, reinforcing the importance of handling skewness to prevent bias in clustering results. Log transformation was applied to key features to reduce skewness and improve model performance.</a:t>
            </a:r>
          </a:p>
          <a:p>
            <a:pPr marL="457200" indent="-457200">
              <a:buFont typeface="+mj-lt"/>
              <a:buAutoNum type="arabicPeriod"/>
            </a:pPr>
            <a:r>
              <a:rPr lang="en-US" dirty="0"/>
              <a:t>Categorical analysis of variables such as supplier and product type provided insights into product diversity and category-wise contributions. Supplier-level analysis showed that a few suppliers dominate total sales, while product-type analysis revealed varying demand across categories such as wine, liquor, and beer.</a:t>
            </a:r>
          </a:p>
          <a:p>
            <a:endParaRPr lang="en-IN" dirty="0"/>
          </a:p>
        </p:txBody>
      </p:sp>
    </p:spTree>
    <p:extLst>
      <p:ext uri="{BB962C8B-B14F-4D97-AF65-F5344CB8AC3E}">
        <p14:creationId xmlns:p14="http://schemas.microsoft.com/office/powerpoint/2010/main" val="1709737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CB698F-C632-14FD-874B-BE52191F5CC6}"/>
              </a:ext>
            </a:extLst>
          </p:cNvPr>
          <p:cNvSpPr>
            <a:spLocks noGrp="1"/>
          </p:cNvSpPr>
          <p:nvPr>
            <p:ph idx="1"/>
          </p:nvPr>
        </p:nvSpPr>
        <p:spPr>
          <a:xfrm>
            <a:off x="135881" y="163216"/>
            <a:ext cx="12056119" cy="6694784"/>
          </a:xfrm>
        </p:spPr>
        <p:txBody>
          <a:bodyPr/>
          <a:lstStyle/>
          <a:p>
            <a:pPr marL="457200" indent="-457200">
              <a:buFont typeface="+mj-lt"/>
              <a:buAutoNum type="arabicPeriod"/>
            </a:pPr>
            <a:r>
              <a:rPr lang="en-US" dirty="0"/>
              <a:t>Time-based analysis using monthly trends helped identify seasonal patterns and fluctuations in product demand. Some products exhibited consistent demand across months, while others showed significant variability, indicating seasonal behavior.</a:t>
            </a:r>
          </a:p>
          <a:p>
            <a:pPr marL="457200" indent="-457200">
              <a:buFont typeface="+mj-lt"/>
              <a:buAutoNum type="arabicPeriod"/>
            </a:pPr>
            <a:r>
              <a:rPr lang="en-US" dirty="0"/>
              <a:t>Correlation analysis revealed strong relationships among sales-related features, indicating redundancy in certain variables, while ratio and variability features provided better differentiation for clustering.</a:t>
            </a:r>
          </a:p>
          <a:p>
            <a:pPr marL="457200" indent="-457200">
              <a:buFont typeface="+mj-lt"/>
              <a:buAutoNum type="arabicPeriod"/>
            </a:pPr>
            <a:r>
              <a:rPr lang="en-US" dirty="0"/>
              <a:t>Overall, the EDA phase provided critical insights into data distribution, feature relationships, and demand patterns, forming a strong foundation for effective feature engineering and clustering analysis.</a:t>
            </a:r>
            <a:endParaRPr lang="en-IN" dirty="0"/>
          </a:p>
        </p:txBody>
      </p:sp>
    </p:spTree>
    <p:extLst>
      <p:ext uri="{BB962C8B-B14F-4D97-AF65-F5344CB8AC3E}">
        <p14:creationId xmlns:p14="http://schemas.microsoft.com/office/powerpoint/2010/main" val="3125523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5A4D7-C1F5-AE6C-B42F-D7DF7F661317}"/>
              </a:ext>
            </a:extLst>
          </p:cNvPr>
          <p:cNvSpPr>
            <a:spLocks noGrp="1"/>
          </p:cNvSpPr>
          <p:nvPr>
            <p:ph type="title"/>
          </p:nvPr>
        </p:nvSpPr>
        <p:spPr>
          <a:xfrm>
            <a:off x="0" y="77936"/>
            <a:ext cx="10345073" cy="473861"/>
          </a:xfrm>
        </p:spPr>
        <p:txBody>
          <a:bodyPr>
            <a:normAutofit fontScale="90000"/>
          </a:bodyPr>
          <a:lstStyle/>
          <a:p>
            <a:r>
              <a:rPr lang="en-US" dirty="0"/>
              <a:t>              Top Products</a:t>
            </a:r>
            <a:endParaRPr lang="en-IN" dirty="0"/>
          </a:p>
        </p:txBody>
      </p:sp>
      <p:sp>
        <p:nvSpPr>
          <p:cNvPr id="5" name="TextBox 4">
            <a:extLst>
              <a:ext uri="{FF2B5EF4-FFF2-40B4-BE49-F238E27FC236}">
                <a16:creationId xmlns:a16="http://schemas.microsoft.com/office/drawing/2014/main" id="{0D1FA24D-75FB-AD3B-8DB9-2EE520D6C100}"/>
              </a:ext>
            </a:extLst>
          </p:cNvPr>
          <p:cNvSpPr txBox="1"/>
          <p:nvPr/>
        </p:nvSpPr>
        <p:spPr>
          <a:xfrm>
            <a:off x="1" y="472628"/>
            <a:ext cx="7403689" cy="6186309"/>
          </a:xfrm>
          <a:prstGeom prst="rect">
            <a:avLst/>
          </a:prstGeom>
          <a:noFill/>
        </p:spPr>
        <p:txBody>
          <a:bodyPr wrap="square" rtlCol="0">
            <a:spAutoFit/>
          </a:bodyPr>
          <a:lstStyle/>
          <a:p>
            <a:r>
              <a:rPr lang="en-US" dirty="0"/>
              <a:t>SUTTER HOME dominates with multiple SKUs (White Zin, Merlot, Cabernet)</a:t>
            </a:r>
          </a:p>
          <a:p>
            <a:r>
              <a:rPr lang="en-US" dirty="0"/>
              <a:t>187ML pack size products are the </a:t>
            </a:r>
            <a:r>
              <a:rPr lang="en-US" b="1" dirty="0"/>
              <a:t>highest revenue contributors</a:t>
            </a:r>
          </a:p>
          <a:p>
            <a:r>
              <a:rPr lang="en-US" dirty="0"/>
              <a:t>Indicates strong demand for </a:t>
            </a:r>
            <a:r>
              <a:rPr lang="en-US" b="1" dirty="0"/>
              <a:t>small, convenient packaging</a:t>
            </a:r>
            <a:r>
              <a:rPr lang="en-US" dirty="0"/>
              <a:t> </a:t>
            </a:r>
          </a:p>
          <a:p>
            <a:endParaRPr lang="en-IN" dirty="0"/>
          </a:p>
          <a:p>
            <a:r>
              <a:rPr lang="en-US" dirty="0"/>
              <a:t>High sales from </a:t>
            </a:r>
            <a:r>
              <a:rPr lang="en-US" b="1" dirty="0"/>
              <a:t>budget-friendly brands</a:t>
            </a:r>
            <a:r>
              <a:rPr lang="en-US" dirty="0"/>
              <a:t> (Sutter Home, Barefoot)</a:t>
            </a:r>
          </a:p>
          <a:p>
            <a:r>
              <a:rPr lang="en-US" dirty="0"/>
              <a:t>Customers show </a:t>
            </a:r>
            <a:r>
              <a:rPr lang="en-US" b="1" dirty="0"/>
              <a:t>price-sensitive purchasing patterns</a:t>
            </a:r>
          </a:p>
          <a:p>
            <a:r>
              <a:rPr lang="en-US" dirty="0"/>
              <a:t>Preference for </a:t>
            </a:r>
            <a:r>
              <a:rPr lang="en-US" b="1" dirty="0"/>
              <a:t>affordable wines with consistent quality</a:t>
            </a:r>
          </a:p>
          <a:p>
            <a:endParaRPr lang="en-US" b="1" dirty="0"/>
          </a:p>
          <a:p>
            <a:r>
              <a:rPr lang="en-US" dirty="0"/>
              <a:t>Products like </a:t>
            </a:r>
            <a:r>
              <a:rPr lang="en-US" b="1" dirty="0"/>
              <a:t>Mickey’s Malt &amp; Schlitz Malt</a:t>
            </a:r>
            <a:r>
              <a:rPr lang="en-US" dirty="0"/>
              <a:t> show strong performance</a:t>
            </a:r>
          </a:p>
          <a:p>
            <a:r>
              <a:rPr lang="en-US" dirty="0"/>
              <a:t>Larger pack sizes indicate </a:t>
            </a:r>
            <a:r>
              <a:rPr lang="en-US" b="1" dirty="0"/>
              <a:t>bulk consumption behavior</a:t>
            </a:r>
          </a:p>
          <a:p>
            <a:r>
              <a:rPr lang="en-US" dirty="0"/>
              <a:t>Beer segment contributes to </a:t>
            </a:r>
            <a:r>
              <a:rPr lang="en-US" b="1" dirty="0"/>
              <a:t>steady and repeat sales</a:t>
            </a:r>
          </a:p>
          <a:p>
            <a:endParaRPr lang="en-US" b="1" dirty="0"/>
          </a:p>
          <a:p>
            <a:r>
              <a:rPr lang="en-US" dirty="0"/>
              <a:t>Premium wines (Sonoma Cutrer, </a:t>
            </a:r>
            <a:r>
              <a:rPr lang="en-US" dirty="0" err="1"/>
              <a:t>Starborough</a:t>
            </a:r>
            <a:r>
              <a:rPr lang="en-US" dirty="0"/>
              <a:t>) are in top sellers</a:t>
            </a:r>
          </a:p>
          <a:p>
            <a:r>
              <a:rPr lang="en-US" dirty="0"/>
              <a:t>Reflects presence of </a:t>
            </a:r>
            <a:r>
              <a:rPr lang="en-US" b="1" dirty="0"/>
              <a:t>high-value customer segment</a:t>
            </a:r>
          </a:p>
          <a:p>
            <a:r>
              <a:rPr lang="en-US" dirty="0"/>
              <a:t>Lower volume but </a:t>
            </a:r>
            <a:r>
              <a:rPr lang="en-US" b="1" dirty="0"/>
              <a:t>higher revenue per unit</a:t>
            </a:r>
          </a:p>
          <a:p>
            <a:endParaRPr lang="en-US" b="1" dirty="0"/>
          </a:p>
          <a:p>
            <a:r>
              <a:rPr lang="en-US" b="1" dirty="0"/>
              <a:t>Business Recommendation:</a:t>
            </a:r>
          </a:p>
          <a:p>
            <a:r>
              <a:rPr lang="en-US" dirty="0"/>
              <a:t>Increase stock for </a:t>
            </a:r>
            <a:r>
              <a:rPr lang="en-US" b="1" dirty="0"/>
              <a:t>fast-moving 187ML wine bottles</a:t>
            </a:r>
          </a:p>
          <a:p>
            <a:r>
              <a:rPr lang="en-US" dirty="0"/>
              <a:t>Focus on </a:t>
            </a:r>
            <a:r>
              <a:rPr lang="en-US" b="1" dirty="0"/>
              <a:t>budget segment for volume growth</a:t>
            </a:r>
          </a:p>
          <a:p>
            <a:r>
              <a:rPr lang="en-US" dirty="0"/>
              <a:t>Promote </a:t>
            </a:r>
            <a:r>
              <a:rPr lang="en-US" b="1" dirty="0"/>
              <a:t>premium products via targeted campaigns</a:t>
            </a:r>
          </a:p>
          <a:p>
            <a:r>
              <a:rPr lang="en-US" dirty="0"/>
              <a:t>Expand </a:t>
            </a:r>
            <a:r>
              <a:rPr lang="en-US" b="1" dirty="0"/>
              <a:t>craft &amp; imported beverage portfolio</a:t>
            </a:r>
          </a:p>
          <a:p>
            <a:r>
              <a:rPr lang="en-US" dirty="0"/>
              <a:t>Introduce </a:t>
            </a:r>
            <a:r>
              <a:rPr lang="en-US" b="1" dirty="0"/>
              <a:t>bundled offers to increase basket size</a:t>
            </a:r>
            <a:endParaRPr lang="en-IN" dirty="0"/>
          </a:p>
        </p:txBody>
      </p:sp>
      <p:pic>
        <p:nvPicPr>
          <p:cNvPr id="11" name="Content Placeholder 10">
            <a:extLst>
              <a:ext uri="{FF2B5EF4-FFF2-40B4-BE49-F238E27FC236}">
                <a16:creationId xmlns:a16="http://schemas.microsoft.com/office/drawing/2014/main" id="{F6B44FB1-D4AA-E16A-DAEB-14DD4DFB8E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96604" y="77936"/>
            <a:ext cx="4895395" cy="6702128"/>
          </a:xfrm>
          <a:prstGeom prst="rect">
            <a:avLst/>
          </a:prstGeom>
        </p:spPr>
      </p:pic>
    </p:spTree>
    <p:extLst>
      <p:ext uri="{BB962C8B-B14F-4D97-AF65-F5344CB8AC3E}">
        <p14:creationId xmlns:p14="http://schemas.microsoft.com/office/powerpoint/2010/main" val="1053455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3E7CC-8ED1-2540-2AA9-C89821AACA68}"/>
              </a:ext>
            </a:extLst>
          </p:cNvPr>
          <p:cNvSpPr>
            <a:spLocks noGrp="1"/>
          </p:cNvSpPr>
          <p:nvPr>
            <p:ph type="title"/>
          </p:nvPr>
        </p:nvSpPr>
        <p:spPr>
          <a:xfrm>
            <a:off x="709613" y="55061"/>
            <a:ext cx="10332014" cy="623365"/>
          </a:xfrm>
        </p:spPr>
        <p:txBody>
          <a:bodyPr>
            <a:normAutofit fontScale="90000"/>
          </a:bodyPr>
          <a:lstStyle/>
          <a:p>
            <a:r>
              <a:rPr lang="en-US" dirty="0"/>
              <a:t>			Top Suppliers</a:t>
            </a:r>
            <a:endParaRPr lang="en-IN" dirty="0"/>
          </a:p>
        </p:txBody>
      </p:sp>
      <p:pic>
        <p:nvPicPr>
          <p:cNvPr id="5" name="Content Placeholder 4">
            <a:extLst>
              <a:ext uri="{FF2B5EF4-FFF2-40B4-BE49-F238E27FC236}">
                <a16:creationId xmlns:a16="http://schemas.microsoft.com/office/drawing/2014/main" id="{CF4185A9-5B97-47E4-60D6-5488CBA106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06813" y="55061"/>
            <a:ext cx="4385187" cy="5529662"/>
          </a:xfrm>
          <a:prstGeom prst="rect">
            <a:avLst/>
          </a:prstGeom>
        </p:spPr>
      </p:pic>
      <p:sp>
        <p:nvSpPr>
          <p:cNvPr id="6" name="TextBox 5">
            <a:extLst>
              <a:ext uri="{FF2B5EF4-FFF2-40B4-BE49-F238E27FC236}">
                <a16:creationId xmlns:a16="http://schemas.microsoft.com/office/drawing/2014/main" id="{64969BBE-58AA-A7A7-F4C4-C7970CB937DD}"/>
              </a:ext>
            </a:extLst>
          </p:cNvPr>
          <p:cNvSpPr txBox="1"/>
          <p:nvPr/>
        </p:nvSpPr>
        <p:spPr>
          <a:xfrm>
            <a:off x="78657" y="678425"/>
            <a:ext cx="8052619" cy="5078313"/>
          </a:xfrm>
          <a:prstGeom prst="rect">
            <a:avLst/>
          </a:prstGeom>
          <a:noFill/>
        </p:spPr>
        <p:txBody>
          <a:bodyPr wrap="square" rtlCol="0">
            <a:spAutoFit/>
          </a:bodyPr>
          <a:lstStyle/>
          <a:p>
            <a:r>
              <a:rPr lang="en-US" b="1" dirty="0"/>
              <a:t>E &amp; J Gallo Winery</a:t>
            </a:r>
            <a:r>
              <a:rPr lang="en-US" dirty="0"/>
              <a:t> is the leading supplier with the highest sales contribution</a:t>
            </a:r>
          </a:p>
          <a:p>
            <a:r>
              <a:rPr lang="en-US" b="1" dirty="0"/>
              <a:t>Anheuser-Busch Inc</a:t>
            </a:r>
            <a:r>
              <a:rPr lang="en-US" dirty="0"/>
              <a:t> and </a:t>
            </a:r>
            <a:r>
              <a:rPr lang="en-US" b="1" dirty="0"/>
              <a:t>Constellation Brands</a:t>
            </a:r>
            <a:r>
              <a:rPr lang="en-US" dirty="0"/>
              <a:t> follow as major contributors</a:t>
            </a:r>
          </a:p>
          <a:p>
            <a:r>
              <a:rPr lang="en-US" dirty="0"/>
              <a:t>Top 3 suppliers dominate a </a:t>
            </a:r>
            <a:r>
              <a:rPr lang="en-US" b="1" dirty="0"/>
              <a:t>significant share of total sales</a:t>
            </a:r>
            <a:r>
              <a:rPr lang="en-US" dirty="0"/>
              <a:t> </a:t>
            </a:r>
          </a:p>
          <a:p>
            <a:endParaRPr lang="en-IN" dirty="0"/>
          </a:p>
          <a:p>
            <a:r>
              <a:rPr lang="en-US" dirty="0"/>
              <a:t>Strong presence of </a:t>
            </a:r>
            <a:r>
              <a:rPr lang="en-US" b="1" dirty="0"/>
              <a:t>wine-focused suppliers</a:t>
            </a:r>
            <a:r>
              <a:rPr lang="en-US" dirty="0"/>
              <a:t> in top positions</a:t>
            </a:r>
          </a:p>
          <a:p>
            <a:r>
              <a:rPr lang="en-US" dirty="0"/>
              <a:t>Mix of </a:t>
            </a:r>
            <a:r>
              <a:rPr lang="en-US" b="1" dirty="0"/>
              <a:t>beer, wine, and spirits suppliers</a:t>
            </a:r>
            <a:r>
              <a:rPr lang="en-US" dirty="0"/>
              <a:t> indicates a diversified portfolio</a:t>
            </a:r>
          </a:p>
          <a:p>
            <a:r>
              <a:rPr lang="en-US" dirty="0"/>
              <a:t>Mid-tier suppliers (Diageo, Miller Brewing) show consistent performance</a:t>
            </a:r>
          </a:p>
          <a:p>
            <a:endParaRPr lang="en-US" dirty="0"/>
          </a:p>
          <a:p>
            <a:r>
              <a:rPr lang="en-US" b="1" dirty="0"/>
              <a:t>Business Implications:</a:t>
            </a:r>
          </a:p>
          <a:p>
            <a:r>
              <a:rPr lang="en-US" dirty="0"/>
              <a:t>High dependency on </a:t>
            </a:r>
            <a:r>
              <a:rPr lang="en-US" b="1" dirty="0"/>
              <a:t>few key suppliers</a:t>
            </a:r>
            <a:r>
              <a:rPr lang="en-US" dirty="0"/>
              <a:t> (risk + opportunity)</a:t>
            </a:r>
          </a:p>
          <a:p>
            <a:r>
              <a:rPr lang="en-US" dirty="0"/>
              <a:t>Opportunity to </a:t>
            </a:r>
            <a:r>
              <a:rPr lang="en-US" b="1" dirty="0"/>
              <a:t>strengthen partnerships with top suppliers</a:t>
            </a:r>
          </a:p>
          <a:p>
            <a:r>
              <a:rPr lang="en-US" dirty="0"/>
              <a:t>Scope to </a:t>
            </a:r>
            <a:r>
              <a:rPr lang="en-US" b="1" dirty="0"/>
              <a:t>improve performance of lower-tier suppliers</a:t>
            </a:r>
            <a:r>
              <a:rPr lang="en-US" dirty="0"/>
              <a:t> </a:t>
            </a:r>
          </a:p>
          <a:p>
            <a:endParaRPr lang="en-IN" dirty="0"/>
          </a:p>
          <a:p>
            <a:r>
              <a:rPr lang="en-IN" b="1" dirty="0"/>
              <a:t>Recommendations:</a:t>
            </a:r>
          </a:p>
          <a:p>
            <a:r>
              <a:rPr lang="en-US" dirty="0"/>
              <a:t>Focus on </a:t>
            </a:r>
            <a:r>
              <a:rPr lang="en-US" b="1" dirty="0"/>
              <a:t>top supplier relationship management</a:t>
            </a:r>
          </a:p>
          <a:p>
            <a:r>
              <a:rPr lang="en-US" dirty="0"/>
              <a:t>Negotiate better deals with </a:t>
            </a:r>
            <a:r>
              <a:rPr lang="en-US" b="1" dirty="0"/>
              <a:t>high-volume suppliers</a:t>
            </a:r>
          </a:p>
          <a:p>
            <a:r>
              <a:rPr lang="en-US" dirty="0"/>
              <a:t>Diversify supplier base to </a:t>
            </a:r>
            <a:r>
              <a:rPr lang="en-US" b="1" dirty="0"/>
              <a:t>reduce dependency risk</a:t>
            </a:r>
            <a:r>
              <a:rPr lang="en-US" dirty="0"/>
              <a:t> </a:t>
            </a:r>
          </a:p>
          <a:p>
            <a:endParaRPr lang="en-IN" b="1" dirty="0"/>
          </a:p>
        </p:txBody>
      </p:sp>
    </p:spTree>
    <p:extLst>
      <p:ext uri="{BB962C8B-B14F-4D97-AF65-F5344CB8AC3E}">
        <p14:creationId xmlns:p14="http://schemas.microsoft.com/office/powerpoint/2010/main" val="1878865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2AB83-0E5D-6EF5-EA4D-D33D7E465B56}"/>
              </a:ext>
            </a:extLst>
          </p:cNvPr>
          <p:cNvSpPr>
            <a:spLocks noGrp="1"/>
          </p:cNvSpPr>
          <p:nvPr>
            <p:ph type="title"/>
          </p:nvPr>
        </p:nvSpPr>
        <p:spPr>
          <a:xfrm>
            <a:off x="657606" y="35396"/>
            <a:ext cx="9990729" cy="623365"/>
          </a:xfrm>
        </p:spPr>
        <p:txBody>
          <a:bodyPr>
            <a:normAutofit fontScale="90000"/>
          </a:bodyPr>
          <a:lstStyle/>
          <a:p>
            <a:r>
              <a:rPr lang="en-US" dirty="0"/>
              <a:t>		Sales by Product Type</a:t>
            </a:r>
            <a:endParaRPr lang="en-IN" dirty="0"/>
          </a:p>
        </p:txBody>
      </p:sp>
      <p:pic>
        <p:nvPicPr>
          <p:cNvPr id="5" name="Content Placeholder 4">
            <a:extLst>
              <a:ext uri="{FF2B5EF4-FFF2-40B4-BE49-F238E27FC236}">
                <a16:creationId xmlns:a16="http://schemas.microsoft.com/office/drawing/2014/main" id="{6EE1620C-B0AC-CFBC-42FE-BB3B320385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86517" y="35397"/>
            <a:ext cx="4436279" cy="4241635"/>
          </a:xfrm>
          <a:prstGeom prst="rect">
            <a:avLst/>
          </a:prstGeom>
        </p:spPr>
      </p:pic>
      <p:sp>
        <p:nvSpPr>
          <p:cNvPr id="6" name="TextBox 5">
            <a:extLst>
              <a:ext uri="{FF2B5EF4-FFF2-40B4-BE49-F238E27FC236}">
                <a16:creationId xmlns:a16="http://schemas.microsoft.com/office/drawing/2014/main" id="{2C68D2E5-A4A6-A355-8597-47286EF126BF}"/>
              </a:ext>
            </a:extLst>
          </p:cNvPr>
          <p:cNvSpPr txBox="1"/>
          <p:nvPr/>
        </p:nvSpPr>
        <p:spPr>
          <a:xfrm>
            <a:off x="69204" y="580103"/>
            <a:ext cx="7686517" cy="5909310"/>
          </a:xfrm>
          <a:prstGeom prst="rect">
            <a:avLst/>
          </a:prstGeom>
          <a:noFill/>
        </p:spPr>
        <p:txBody>
          <a:bodyPr wrap="square" rtlCol="0">
            <a:spAutoFit/>
          </a:bodyPr>
          <a:lstStyle/>
          <a:p>
            <a:r>
              <a:rPr lang="en-US" b="1" dirty="0"/>
              <a:t>Wine</a:t>
            </a:r>
            <a:r>
              <a:rPr lang="en-US" dirty="0"/>
              <a:t> is the top-selling category with the highest revenue contribution</a:t>
            </a:r>
          </a:p>
          <a:p>
            <a:r>
              <a:rPr lang="en-US" b="1" dirty="0"/>
              <a:t>Beer</a:t>
            </a:r>
            <a:r>
              <a:rPr lang="en-US" dirty="0"/>
              <a:t> ranks second, showing strong and consistent demand</a:t>
            </a:r>
          </a:p>
          <a:p>
            <a:r>
              <a:rPr lang="en-US" b="1" dirty="0"/>
              <a:t>Liquor</a:t>
            </a:r>
            <a:r>
              <a:rPr lang="en-US" dirty="0"/>
              <a:t> holds the third position with significant sales share </a:t>
            </a:r>
          </a:p>
          <a:p>
            <a:endParaRPr lang="en-IN" dirty="0"/>
          </a:p>
          <a:p>
            <a:r>
              <a:rPr lang="en-US" dirty="0"/>
              <a:t>Top 3 categories (</a:t>
            </a:r>
            <a:r>
              <a:rPr lang="en-US" b="1" dirty="0"/>
              <a:t>Wine, Beer, Liquor</a:t>
            </a:r>
            <a:r>
              <a:rPr lang="en-US" dirty="0"/>
              <a:t>) dominate overall sales</a:t>
            </a:r>
          </a:p>
          <a:p>
            <a:r>
              <a:rPr lang="en-US" dirty="0"/>
              <a:t>Wine significantly outperforms other categories → </a:t>
            </a:r>
            <a:r>
              <a:rPr lang="en-US" b="1" dirty="0"/>
              <a:t>primary revenue driver</a:t>
            </a:r>
          </a:p>
          <a:p>
            <a:r>
              <a:rPr lang="en-US" dirty="0"/>
              <a:t>Beer &amp; Liquor indicate </a:t>
            </a:r>
            <a:r>
              <a:rPr lang="en-US" b="1" dirty="0"/>
              <a:t>stable and recurring consumption patterns</a:t>
            </a:r>
          </a:p>
          <a:p>
            <a:endParaRPr lang="en-US" b="1" dirty="0"/>
          </a:p>
          <a:p>
            <a:r>
              <a:rPr lang="en-IN" b="1" dirty="0"/>
              <a:t>Kegs &amp; Non-Alcoholic</a:t>
            </a:r>
            <a:r>
              <a:rPr lang="en-IN" dirty="0"/>
              <a:t> products contribute minimal sales</a:t>
            </a:r>
          </a:p>
          <a:p>
            <a:r>
              <a:rPr lang="en-US" b="1" dirty="0"/>
              <a:t>Str Supplies, RFT, Unknown</a:t>
            </a:r>
            <a:r>
              <a:rPr lang="en-US" dirty="0"/>
              <a:t> categories have negligible impact</a:t>
            </a:r>
          </a:p>
          <a:p>
            <a:r>
              <a:rPr lang="en-US" dirty="0"/>
              <a:t>Indicates </a:t>
            </a:r>
            <a:r>
              <a:rPr lang="en-US" b="1" dirty="0"/>
              <a:t>low demand or niche usage segments</a:t>
            </a:r>
            <a:r>
              <a:rPr lang="en-US" dirty="0"/>
              <a:t> </a:t>
            </a:r>
          </a:p>
          <a:p>
            <a:endParaRPr lang="en-IN" dirty="0"/>
          </a:p>
          <a:p>
            <a:r>
              <a:rPr lang="en-IN" b="1" dirty="0"/>
              <a:t>Business Implications:</a:t>
            </a:r>
          </a:p>
          <a:p>
            <a:r>
              <a:rPr lang="en-US" dirty="0"/>
              <a:t>Heavy reliance on </a:t>
            </a:r>
            <a:r>
              <a:rPr lang="en-US" b="1" dirty="0"/>
              <a:t>alcoholic beverage categories</a:t>
            </a:r>
          </a:p>
          <a:p>
            <a:r>
              <a:rPr lang="en-US" dirty="0"/>
              <a:t>Opportunity to </a:t>
            </a:r>
            <a:r>
              <a:rPr lang="en-US" b="1" dirty="0"/>
              <a:t>optimize or rationalize low-performing categories</a:t>
            </a:r>
          </a:p>
          <a:p>
            <a:r>
              <a:rPr lang="en-US" dirty="0"/>
              <a:t>Focus on </a:t>
            </a:r>
            <a:r>
              <a:rPr lang="en-US" b="1" dirty="0"/>
              <a:t>high-margin categories (Wine &amp; Liquor)</a:t>
            </a:r>
          </a:p>
          <a:p>
            <a:endParaRPr lang="en-US" b="1" dirty="0"/>
          </a:p>
          <a:p>
            <a:r>
              <a:rPr lang="en-US" b="1" dirty="0"/>
              <a:t>Recommendations:</a:t>
            </a:r>
          </a:p>
          <a:p>
            <a:r>
              <a:rPr lang="en-US" dirty="0"/>
              <a:t>Increase focus on </a:t>
            </a:r>
            <a:r>
              <a:rPr lang="en-US" b="1" dirty="0"/>
              <a:t>Wine portfolio expansion</a:t>
            </a:r>
          </a:p>
          <a:p>
            <a:r>
              <a:rPr lang="en-US" dirty="0"/>
              <a:t>Strengthen </a:t>
            </a:r>
            <a:r>
              <a:rPr lang="en-US" b="1" dirty="0"/>
              <a:t>Beer &amp; Liquor promotions for volume growth</a:t>
            </a:r>
          </a:p>
          <a:p>
            <a:r>
              <a:rPr lang="en-US" dirty="0"/>
              <a:t>Evaluate strategy for </a:t>
            </a:r>
            <a:r>
              <a:rPr lang="en-US" b="1" dirty="0"/>
              <a:t>low-performing categories</a:t>
            </a:r>
            <a:r>
              <a:rPr lang="en-US" dirty="0"/>
              <a:t> (reduce / reposition)</a:t>
            </a:r>
            <a:endParaRPr lang="en-IN" b="1" dirty="0"/>
          </a:p>
        </p:txBody>
      </p:sp>
    </p:spTree>
    <p:extLst>
      <p:ext uri="{BB962C8B-B14F-4D97-AF65-F5344CB8AC3E}">
        <p14:creationId xmlns:p14="http://schemas.microsoft.com/office/powerpoint/2010/main" val="467742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86202-6F02-5EA1-7EF3-A2251D64CC6C}"/>
              </a:ext>
            </a:extLst>
          </p:cNvPr>
          <p:cNvSpPr>
            <a:spLocks noGrp="1"/>
          </p:cNvSpPr>
          <p:nvPr>
            <p:ph type="title"/>
          </p:nvPr>
        </p:nvSpPr>
        <p:spPr>
          <a:xfrm>
            <a:off x="676656" y="96410"/>
            <a:ext cx="10345073" cy="660673"/>
          </a:xfrm>
        </p:spPr>
        <p:txBody>
          <a:bodyPr>
            <a:normAutofit fontScale="90000"/>
          </a:bodyPr>
          <a:lstStyle/>
          <a:p>
            <a:r>
              <a:rPr lang="en-US" dirty="0"/>
              <a:t>			Monthly Sales Trend</a:t>
            </a:r>
            <a:endParaRPr lang="en-IN" dirty="0"/>
          </a:p>
        </p:txBody>
      </p:sp>
      <p:pic>
        <p:nvPicPr>
          <p:cNvPr id="5" name="Content Placeholder 4">
            <a:extLst>
              <a:ext uri="{FF2B5EF4-FFF2-40B4-BE49-F238E27FC236}">
                <a16:creationId xmlns:a16="http://schemas.microsoft.com/office/drawing/2014/main" id="{0E7102C0-AFA1-46BC-0EC7-FDFFF2251A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68823" y="757083"/>
            <a:ext cx="4785505" cy="3767137"/>
          </a:xfrm>
          <a:prstGeom prst="rect">
            <a:avLst/>
          </a:prstGeom>
        </p:spPr>
      </p:pic>
      <p:sp>
        <p:nvSpPr>
          <p:cNvPr id="6" name="TextBox 5">
            <a:extLst>
              <a:ext uri="{FF2B5EF4-FFF2-40B4-BE49-F238E27FC236}">
                <a16:creationId xmlns:a16="http://schemas.microsoft.com/office/drawing/2014/main" id="{DACCDB61-1A83-3E5F-6CBC-7964DC3CCA5F}"/>
              </a:ext>
            </a:extLst>
          </p:cNvPr>
          <p:cNvSpPr txBox="1"/>
          <p:nvPr/>
        </p:nvSpPr>
        <p:spPr>
          <a:xfrm>
            <a:off x="0" y="894734"/>
            <a:ext cx="7374194" cy="4801314"/>
          </a:xfrm>
          <a:prstGeom prst="rect">
            <a:avLst/>
          </a:prstGeom>
          <a:noFill/>
        </p:spPr>
        <p:txBody>
          <a:bodyPr wrap="square" rtlCol="0">
            <a:spAutoFit/>
          </a:bodyPr>
          <a:lstStyle/>
          <a:p>
            <a:r>
              <a:rPr lang="en-US" dirty="0"/>
              <a:t>Sales show </a:t>
            </a:r>
            <a:r>
              <a:rPr lang="en-US" b="1" dirty="0"/>
              <a:t>significant fluctuations across months</a:t>
            </a:r>
          </a:p>
          <a:p>
            <a:r>
              <a:rPr lang="en-US" dirty="0"/>
              <a:t>Peak sales observed in </a:t>
            </a:r>
            <a:r>
              <a:rPr lang="en-US" b="1" dirty="0"/>
              <a:t>Month 7 and Month 9</a:t>
            </a:r>
          </a:p>
          <a:p>
            <a:r>
              <a:rPr lang="en-US" dirty="0"/>
              <a:t>Lowest sales recorded in </a:t>
            </a:r>
            <a:r>
              <a:rPr lang="en-US" b="1" dirty="0"/>
              <a:t>Month 4 and Month 12</a:t>
            </a:r>
            <a:r>
              <a:rPr lang="en-US" dirty="0"/>
              <a:t> </a:t>
            </a:r>
          </a:p>
          <a:p>
            <a:endParaRPr lang="en-IN" dirty="0"/>
          </a:p>
          <a:p>
            <a:r>
              <a:rPr lang="en-US" dirty="0"/>
              <a:t>Strong recovery after mid-year dip (Month 4–5 → Month 7 peak)</a:t>
            </a:r>
          </a:p>
          <a:p>
            <a:r>
              <a:rPr lang="en-IN" dirty="0"/>
              <a:t>Indicates </a:t>
            </a:r>
            <a:r>
              <a:rPr lang="en-IN" b="1" dirty="0"/>
              <a:t>seasonal demand patterns</a:t>
            </a:r>
          </a:p>
          <a:p>
            <a:r>
              <a:rPr lang="en-US" dirty="0"/>
              <a:t>Sales remain relatively stable in the </a:t>
            </a:r>
            <a:r>
              <a:rPr lang="en-US" b="1" dirty="0"/>
              <a:t>second half with periodic spikes</a:t>
            </a:r>
            <a:r>
              <a:rPr lang="en-US" dirty="0"/>
              <a:t> </a:t>
            </a:r>
          </a:p>
          <a:p>
            <a:endParaRPr lang="en-IN" dirty="0"/>
          </a:p>
          <a:p>
            <a:r>
              <a:rPr lang="en-IN" b="1" dirty="0"/>
              <a:t>Business Implications:</a:t>
            </a:r>
          </a:p>
          <a:p>
            <a:r>
              <a:rPr lang="en-US" dirty="0"/>
              <a:t>Demand is </a:t>
            </a:r>
            <a:r>
              <a:rPr lang="en-US" b="1" dirty="0"/>
              <a:t>not uniform → requires seasonal planning</a:t>
            </a:r>
          </a:p>
          <a:p>
            <a:r>
              <a:rPr lang="en-US" dirty="0"/>
              <a:t>Peak months contribute </a:t>
            </a:r>
            <a:r>
              <a:rPr lang="en-US" b="1" dirty="0"/>
              <a:t>major share of annual revenue</a:t>
            </a:r>
          </a:p>
          <a:p>
            <a:r>
              <a:rPr lang="en-US" dirty="0"/>
              <a:t>Low months indicate </a:t>
            </a:r>
            <a:r>
              <a:rPr lang="en-US" b="1" dirty="0"/>
              <a:t>opportunity for demand generation strategies</a:t>
            </a:r>
            <a:r>
              <a:rPr lang="en-US" dirty="0"/>
              <a:t> </a:t>
            </a:r>
          </a:p>
          <a:p>
            <a:endParaRPr lang="en-IN" b="1" dirty="0"/>
          </a:p>
          <a:p>
            <a:r>
              <a:rPr lang="en-IN" b="1" dirty="0"/>
              <a:t>Recommendations:</a:t>
            </a:r>
          </a:p>
          <a:p>
            <a:r>
              <a:rPr lang="en-US" dirty="0"/>
              <a:t>Increase inventory &amp; marketing before </a:t>
            </a:r>
            <a:r>
              <a:rPr lang="en-US" b="1" dirty="0"/>
              <a:t>peak months (7 &amp; 9)</a:t>
            </a:r>
          </a:p>
          <a:p>
            <a:r>
              <a:rPr lang="en-US" dirty="0"/>
              <a:t>Introduce </a:t>
            </a:r>
            <a:r>
              <a:rPr lang="en-US" b="1" dirty="0"/>
              <a:t>discounts/offers during low months (4 &amp; 12)</a:t>
            </a:r>
          </a:p>
          <a:p>
            <a:r>
              <a:rPr lang="en-US" dirty="0"/>
              <a:t>Plan </a:t>
            </a:r>
            <a:r>
              <a:rPr lang="en-US" b="1" dirty="0"/>
              <a:t>seasonal campaigns aligned with demand cycles</a:t>
            </a:r>
            <a:endParaRPr lang="en-IN" b="1" dirty="0"/>
          </a:p>
        </p:txBody>
      </p:sp>
    </p:spTree>
    <p:extLst>
      <p:ext uri="{BB962C8B-B14F-4D97-AF65-F5344CB8AC3E}">
        <p14:creationId xmlns:p14="http://schemas.microsoft.com/office/powerpoint/2010/main" val="897700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25E9-91B2-810A-01FA-DB1723D0ECAE}"/>
              </a:ext>
            </a:extLst>
          </p:cNvPr>
          <p:cNvSpPr>
            <a:spLocks noGrp="1"/>
          </p:cNvSpPr>
          <p:nvPr>
            <p:ph type="title"/>
          </p:nvPr>
        </p:nvSpPr>
        <p:spPr>
          <a:xfrm>
            <a:off x="401586" y="0"/>
            <a:ext cx="10315576" cy="865239"/>
          </a:xfrm>
        </p:spPr>
        <p:txBody>
          <a:bodyPr/>
          <a:lstStyle/>
          <a:p>
            <a:r>
              <a:rPr lang="en-US" dirty="0"/>
              <a:t>			Correlation Matrix</a:t>
            </a:r>
            <a:endParaRPr lang="en-IN" dirty="0"/>
          </a:p>
        </p:txBody>
      </p:sp>
      <p:pic>
        <p:nvPicPr>
          <p:cNvPr id="5" name="Content Placeholder 4">
            <a:extLst>
              <a:ext uri="{FF2B5EF4-FFF2-40B4-BE49-F238E27FC236}">
                <a16:creationId xmlns:a16="http://schemas.microsoft.com/office/drawing/2014/main" id="{A6287A2F-3CA2-B2C5-CFBE-B4638C9E23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32057" y="615182"/>
            <a:ext cx="4459943" cy="3767137"/>
          </a:xfrm>
          <a:prstGeom prst="rect">
            <a:avLst/>
          </a:prstGeom>
        </p:spPr>
      </p:pic>
      <p:sp>
        <p:nvSpPr>
          <p:cNvPr id="6" name="TextBox 5">
            <a:extLst>
              <a:ext uri="{FF2B5EF4-FFF2-40B4-BE49-F238E27FC236}">
                <a16:creationId xmlns:a16="http://schemas.microsoft.com/office/drawing/2014/main" id="{8DD51CB0-B786-C57C-DCDD-41FD5A491389}"/>
              </a:ext>
            </a:extLst>
          </p:cNvPr>
          <p:cNvSpPr txBox="1"/>
          <p:nvPr/>
        </p:nvSpPr>
        <p:spPr>
          <a:xfrm>
            <a:off x="68826" y="757084"/>
            <a:ext cx="7561006" cy="4801314"/>
          </a:xfrm>
          <a:prstGeom prst="rect">
            <a:avLst/>
          </a:prstGeom>
          <a:noFill/>
        </p:spPr>
        <p:txBody>
          <a:bodyPr wrap="square" rtlCol="0">
            <a:spAutoFit/>
          </a:bodyPr>
          <a:lstStyle/>
          <a:p>
            <a:r>
              <a:rPr lang="en-US" b="1" dirty="0"/>
              <a:t>Total Sales</a:t>
            </a:r>
            <a:r>
              <a:rPr lang="en-US" dirty="0"/>
              <a:t> has a strong positive correlation with:</a:t>
            </a:r>
          </a:p>
          <a:p>
            <a:r>
              <a:rPr lang="en-IN" dirty="0"/>
              <a:t>Retail Sales (</a:t>
            </a:r>
            <a:r>
              <a:rPr lang="en-IN" b="1" dirty="0"/>
              <a:t>0.79</a:t>
            </a:r>
            <a:r>
              <a:rPr lang="en-IN" dirty="0"/>
              <a:t>) &amp; Warehouse Sales (</a:t>
            </a:r>
            <a:r>
              <a:rPr lang="en-IN" b="1" dirty="0"/>
              <a:t>0.79</a:t>
            </a:r>
            <a:r>
              <a:rPr lang="en-IN" dirty="0"/>
              <a:t>)</a:t>
            </a:r>
          </a:p>
          <a:p>
            <a:endParaRPr lang="en-US" b="1" dirty="0"/>
          </a:p>
          <a:p>
            <a:r>
              <a:rPr lang="en-US" b="1" dirty="0"/>
              <a:t>Retail vs Warehouse Sales</a:t>
            </a:r>
            <a:r>
              <a:rPr lang="en-US" dirty="0"/>
              <a:t> show low correlation (</a:t>
            </a:r>
            <a:r>
              <a:rPr lang="en-US" b="1" dirty="0"/>
              <a:t>0.26</a:t>
            </a:r>
            <a:r>
              <a:rPr lang="en-US" dirty="0"/>
              <a:t>)</a:t>
            </a:r>
          </a:p>
          <a:p>
            <a:r>
              <a:rPr lang="en-US" dirty="0"/>
              <a:t>Indicates both channels operate </a:t>
            </a:r>
            <a:r>
              <a:rPr lang="en-US" b="1" dirty="0"/>
              <a:t>independently</a:t>
            </a:r>
          </a:p>
          <a:p>
            <a:r>
              <a:rPr lang="en-US" dirty="0"/>
              <a:t>Each contributes </a:t>
            </a:r>
            <a:r>
              <a:rPr lang="en-US" b="1" dirty="0"/>
              <a:t>uniquely to total sales</a:t>
            </a:r>
          </a:p>
          <a:p>
            <a:endParaRPr lang="en-US" b="1" dirty="0"/>
          </a:p>
          <a:p>
            <a:r>
              <a:rPr lang="en-US" b="1" dirty="0"/>
              <a:t>Business Implications:</a:t>
            </a:r>
          </a:p>
          <a:p>
            <a:r>
              <a:rPr lang="en-US" dirty="0"/>
              <a:t>Growth in either </a:t>
            </a:r>
            <a:r>
              <a:rPr lang="en-US" b="1" dirty="0"/>
              <a:t>retail or warehouse sales</a:t>
            </a:r>
            <a:r>
              <a:rPr lang="en-US" dirty="0"/>
              <a:t> will increase total sales</a:t>
            </a:r>
          </a:p>
          <a:p>
            <a:r>
              <a:rPr lang="en-US" dirty="0"/>
              <a:t>Opportunity to </a:t>
            </a:r>
            <a:r>
              <a:rPr lang="en-US" b="1" dirty="0"/>
              <a:t>optimize both channels separately</a:t>
            </a:r>
          </a:p>
          <a:p>
            <a:r>
              <a:rPr lang="en-US" dirty="0"/>
              <a:t>Low overlap reduces </a:t>
            </a:r>
            <a:r>
              <a:rPr lang="en-US" b="1" dirty="0"/>
              <a:t>risk of channel dependency</a:t>
            </a:r>
          </a:p>
          <a:p>
            <a:endParaRPr lang="en-US" b="1" dirty="0"/>
          </a:p>
          <a:p>
            <a:r>
              <a:rPr lang="en-US" b="1" dirty="0"/>
              <a:t>Recommendations:</a:t>
            </a:r>
          </a:p>
          <a:p>
            <a:r>
              <a:rPr lang="en-US" dirty="0"/>
              <a:t>Develop </a:t>
            </a:r>
            <a:r>
              <a:rPr lang="en-US" b="1" dirty="0"/>
              <a:t>separate strategies for retail &amp; warehouse channels</a:t>
            </a:r>
          </a:p>
          <a:p>
            <a:r>
              <a:rPr lang="en-US" dirty="0"/>
              <a:t>Invest in both channels to </a:t>
            </a:r>
            <a:r>
              <a:rPr lang="en-US" b="1" dirty="0"/>
              <a:t>maximize total revenue</a:t>
            </a:r>
          </a:p>
          <a:p>
            <a:r>
              <a:rPr lang="en-US" dirty="0"/>
              <a:t>Monitor channel performance independently for </a:t>
            </a:r>
            <a:r>
              <a:rPr lang="en-US" b="1" dirty="0"/>
              <a:t>better decision-making</a:t>
            </a:r>
            <a:r>
              <a:rPr lang="en-US" dirty="0"/>
              <a:t> </a:t>
            </a:r>
          </a:p>
          <a:p>
            <a:endParaRPr lang="en-IN" dirty="0"/>
          </a:p>
        </p:txBody>
      </p:sp>
    </p:spTree>
    <p:extLst>
      <p:ext uri="{BB962C8B-B14F-4D97-AF65-F5344CB8AC3E}">
        <p14:creationId xmlns:p14="http://schemas.microsoft.com/office/powerpoint/2010/main" val="2061133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986E9-AC3A-A73E-2C35-FDEF0F3468D8}"/>
              </a:ext>
            </a:extLst>
          </p:cNvPr>
          <p:cNvSpPr>
            <a:spLocks noGrp="1"/>
          </p:cNvSpPr>
          <p:nvPr>
            <p:ph type="title"/>
          </p:nvPr>
        </p:nvSpPr>
        <p:spPr>
          <a:xfrm>
            <a:off x="450747" y="0"/>
            <a:ext cx="10276248" cy="757084"/>
          </a:xfrm>
        </p:spPr>
        <p:txBody>
          <a:bodyPr>
            <a:normAutofit fontScale="90000"/>
          </a:bodyPr>
          <a:lstStyle/>
          <a:p>
            <a:r>
              <a:rPr lang="en-US" dirty="0"/>
              <a:t>			Retail vs Warehouse Sales</a:t>
            </a:r>
            <a:endParaRPr lang="en-IN" dirty="0"/>
          </a:p>
        </p:txBody>
      </p:sp>
      <p:pic>
        <p:nvPicPr>
          <p:cNvPr id="5" name="Content Placeholder 4">
            <a:extLst>
              <a:ext uri="{FF2B5EF4-FFF2-40B4-BE49-F238E27FC236}">
                <a16:creationId xmlns:a16="http://schemas.microsoft.com/office/drawing/2014/main" id="{246397C6-2C5E-3A11-9AEE-C9680880ED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41665" y="674176"/>
            <a:ext cx="3823049" cy="3767137"/>
          </a:xfrm>
          <a:prstGeom prst="rect">
            <a:avLst/>
          </a:prstGeom>
        </p:spPr>
      </p:pic>
      <p:sp>
        <p:nvSpPr>
          <p:cNvPr id="6" name="TextBox 5">
            <a:extLst>
              <a:ext uri="{FF2B5EF4-FFF2-40B4-BE49-F238E27FC236}">
                <a16:creationId xmlns:a16="http://schemas.microsoft.com/office/drawing/2014/main" id="{E0B2EB10-6AF5-F2A4-BD93-6E03FFCA675E}"/>
              </a:ext>
            </a:extLst>
          </p:cNvPr>
          <p:cNvSpPr txBox="1"/>
          <p:nvPr/>
        </p:nvSpPr>
        <p:spPr>
          <a:xfrm>
            <a:off x="127286" y="674176"/>
            <a:ext cx="8190804" cy="4801314"/>
          </a:xfrm>
          <a:prstGeom prst="rect">
            <a:avLst/>
          </a:prstGeom>
          <a:noFill/>
        </p:spPr>
        <p:txBody>
          <a:bodyPr wrap="square" rtlCol="0">
            <a:spAutoFit/>
          </a:bodyPr>
          <a:lstStyle/>
          <a:p>
            <a:r>
              <a:rPr lang="en-US" b="1" dirty="0"/>
              <a:t>Warehouse Sales</a:t>
            </a:r>
            <a:r>
              <a:rPr lang="en-US" dirty="0"/>
              <a:t> significantly higher than Retail Sales</a:t>
            </a:r>
          </a:p>
          <a:p>
            <a:r>
              <a:rPr lang="en-US" dirty="0"/>
              <a:t>Warehouse contributes the </a:t>
            </a:r>
            <a:r>
              <a:rPr lang="en-US" b="1" dirty="0"/>
              <a:t>major share of total revenue</a:t>
            </a:r>
          </a:p>
          <a:p>
            <a:r>
              <a:rPr lang="en-US" dirty="0"/>
              <a:t>Retail sales are comparatively </a:t>
            </a:r>
            <a:r>
              <a:rPr lang="en-US" b="1" dirty="0"/>
              <a:t>lower but still important</a:t>
            </a:r>
          </a:p>
          <a:p>
            <a:endParaRPr lang="en-US" b="1" dirty="0"/>
          </a:p>
          <a:p>
            <a:r>
              <a:rPr lang="en-US" dirty="0"/>
              <a:t>Warehouse channel indicates </a:t>
            </a:r>
            <a:r>
              <a:rPr lang="en-US" b="1" dirty="0"/>
              <a:t>bulk purchasing behavior</a:t>
            </a:r>
          </a:p>
          <a:p>
            <a:r>
              <a:rPr lang="en-US" dirty="0"/>
              <a:t>Retail reflects </a:t>
            </a:r>
            <a:r>
              <a:rPr lang="en-US" b="1" dirty="0"/>
              <a:t>individual / smaller transactions</a:t>
            </a:r>
          </a:p>
          <a:p>
            <a:r>
              <a:rPr lang="en-US" dirty="0"/>
              <a:t>Strong reliance on </a:t>
            </a:r>
            <a:r>
              <a:rPr lang="en-US" b="1" dirty="0"/>
              <a:t>warehouse distribution model</a:t>
            </a:r>
          </a:p>
          <a:p>
            <a:endParaRPr lang="en-US" b="1" dirty="0"/>
          </a:p>
          <a:p>
            <a:r>
              <a:rPr lang="en-US" b="1" dirty="0"/>
              <a:t>Business Implications:</a:t>
            </a:r>
          </a:p>
          <a:p>
            <a:r>
              <a:rPr lang="en-US" dirty="0"/>
              <a:t>Business is </a:t>
            </a:r>
            <a:r>
              <a:rPr lang="en-US" b="1" dirty="0"/>
              <a:t>heavily dependent on warehouse sales</a:t>
            </a:r>
          </a:p>
          <a:p>
            <a:r>
              <a:rPr lang="en-US" dirty="0"/>
              <a:t>Retail channel has </a:t>
            </a:r>
            <a:r>
              <a:rPr lang="en-US" b="1" dirty="0"/>
              <a:t>untapped growth potential</a:t>
            </a:r>
          </a:p>
          <a:p>
            <a:r>
              <a:rPr lang="en-US" dirty="0"/>
              <a:t>Balanced channel growth can </a:t>
            </a:r>
            <a:r>
              <a:rPr lang="en-US" b="1" dirty="0"/>
              <a:t>reduce dependency risk</a:t>
            </a:r>
            <a:r>
              <a:rPr lang="en-US" dirty="0"/>
              <a:t> </a:t>
            </a:r>
          </a:p>
          <a:p>
            <a:endParaRPr lang="en-IN" dirty="0"/>
          </a:p>
          <a:p>
            <a:r>
              <a:rPr lang="en-IN" b="1" dirty="0"/>
              <a:t>Recommendations:</a:t>
            </a:r>
          </a:p>
          <a:p>
            <a:r>
              <a:rPr lang="en-US" dirty="0"/>
              <a:t>Strengthen </a:t>
            </a:r>
            <a:r>
              <a:rPr lang="en-US" b="1" dirty="0"/>
              <a:t>warehouse partnerships for volume growth</a:t>
            </a:r>
          </a:p>
          <a:p>
            <a:r>
              <a:rPr lang="en-US" dirty="0"/>
              <a:t>Improve </a:t>
            </a:r>
            <a:r>
              <a:rPr lang="en-US" b="1" dirty="0"/>
              <a:t>retail marketing &amp; customer engagement</a:t>
            </a:r>
          </a:p>
          <a:p>
            <a:r>
              <a:rPr lang="en-US" dirty="0"/>
              <a:t>Explore strategies to </a:t>
            </a:r>
            <a:r>
              <a:rPr lang="en-US" b="1" dirty="0"/>
              <a:t>boost retail sales performance</a:t>
            </a:r>
            <a:endParaRPr lang="en-IN" b="1" dirty="0"/>
          </a:p>
        </p:txBody>
      </p:sp>
    </p:spTree>
    <p:extLst>
      <p:ext uri="{BB962C8B-B14F-4D97-AF65-F5344CB8AC3E}">
        <p14:creationId xmlns:p14="http://schemas.microsoft.com/office/powerpoint/2010/main" val="197778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7E18C-8ED2-D920-D388-2051D5C7F9D3}"/>
              </a:ext>
            </a:extLst>
          </p:cNvPr>
          <p:cNvSpPr>
            <a:spLocks noGrp="1"/>
          </p:cNvSpPr>
          <p:nvPr>
            <p:ph type="title"/>
          </p:nvPr>
        </p:nvSpPr>
        <p:spPr>
          <a:xfrm>
            <a:off x="676657" y="96410"/>
            <a:ext cx="10286312" cy="758996"/>
          </a:xfrm>
        </p:spPr>
        <p:txBody>
          <a:bodyPr>
            <a:normAutofit fontScale="90000"/>
          </a:bodyPr>
          <a:lstStyle/>
          <a:p>
            <a:r>
              <a:rPr lang="en-US" dirty="0"/>
              <a:t>			Feature Scaling</a:t>
            </a:r>
            <a:endParaRPr lang="en-IN" dirty="0"/>
          </a:p>
        </p:txBody>
      </p:sp>
      <p:sp>
        <p:nvSpPr>
          <p:cNvPr id="3" name="Content Placeholder 2">
            <a:extLst>
              <a:ext uri="{FF2B5EF4-FFF2-40B4-BE49-F238E27FC236}">
                <a16:creationId xmlns:a16="http://schemas.microsoft.com/office/drawing/2014/main" id="{06D62B42-F9CB-1E0B-D2CE-A8F56BFAEF5F}"/>
              </a:ext>
            </a:extLst>
          </p:cNvPr>
          <p:cNvSpPr>
            <a:spLocks noGrp="1"/>
          </p:cNvSpPr>
          <p:nvPr>
            <p:ph idx="1"/>
          </p:nvPr>
        </p:nvSpPr>
        <p:spPr>
          <a:xfrm>
            <a:off x="676657" y="887583"/>
            <a:ext cx="11377691" cy="5874007"/>
          </a:xfrm>
        </p:spPr>
        <p:txBody>
          <a:bodyPr/>
          <a:lstStyle/>
          <a:p>
            <a:pPr marL="457200" indent="-457200">
              <a:buFont typeface="+mj-lt"/>
              <a:buAutoNum type="arabicPeriod"/>
            </a:pPr>
            <a:r>
              <a:rPr lang="en-US" dirty="0"/>
              <a:t>Feature scaling was performed to standardize the numerical features before applying the clustering algorithm. Since the dataset contained variables with different scales—such as total sales values in thousands and ratio-based features between 0 and 1—it was essential to normalize the data to ensure fair contribution from all features.</a:t>
            </a:r>
          </a:p>
          <a:p>
            <a:pPr marL="457200" indent="-457200">
              <a:buFont typeface="+mj-lt"/>
              <a:buAutoNum type="arabicPeriod"/>
            </a:pPr>
            <a:r>
              <a:rPr lang="en-US" dirty="0"/>
              <a:t>The </a:t>
            </a:r>
            <a:r>
              <a:rPr lang="en-US" dirty="0" err="1"/>
              <a:t>StandardScaler</a:t>
            </a:r>
            <a:r>
              <a:rPr lang="en-US" dirty="0"/>
              <a:t> technique was used to transform the data by centering each feature around zero and scaling it to unit variance. This process ensures that features with larger magnitudes do not dominate the distance calculations used in the K-Means clustering algorithm.</a:t>
            </a:r>
          </a:p>
          <a:p>
            <a:pPr marL="457200" indent="-457200">
              <a:buFont typeface="+mj-lt"/>
              <a:buAutoNum type="arabicPeriod"/>
            </a:pPr>
            <a:r>
              <a:rPr lang="en-US" dirty="0"/>
              <a:t>By applying feature scaling, all variables were brought to a comparable range, improving the stability and performance of the clustering model. This step was critical in ensuring that the clustering results were driven by meaningful patterns rather than differences in feature scales.</a:t>
            </a:r>
          </a:p>
          <a:p>
            <a:pPr marL="457200" indent="-457200">
              <a:buFont typeface="+mj-lt"/>
              <a:buAutoNum type="arabicPeriod"/>
            </a:pPr>
            <a:r>
              <a:rPr lang="en-US" dirty="0"/>
              <a:t>Overall, feature scaling enhanced the effectiveness of the model by enabling accurate grouping of products based on their behavioral characteristics.</a:t>
            </a:r>
            <a:endParaRPr lang="en-IN" dirty="0"/>
          </a:p>
        </p:txBody>
      </p:sp>
    </p:spTree>
    <p:extLst>
      <p:ext uri="{BB962C8B-B14F-4D97-AF65-F5344CB8AC3E}">
        <p14:creationId xmlns:p14="http://schemas.microsoft.com/office/powerpoint/2010/main" val="424585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4963B-B6BB-B1AD-388C-ADE6C023041C}"/>
              </a:ext>
            </a:extLst>
          </p:cNvPr>
          <p:cNvSpPr>
            <a:spLocks noGrp="1"/>
          </p:cNvSpPr>
          <p:nvPr>
            <p:ph type="title"/>
          </p:nvPr>
        </p:nvSpPr>
        <p:spPr>
          <a:xfrm>
            <a:off x="637561" y="76746"/>
            <a:ext cx="10384402" cy="719667"/>
          </a:xfrm>
        </p:spPr>
        <p:txBody>
          <a:bodyPr>
            <a:normAutofit fontScale="90000"/>
          </a:bodyPr>
          <a:lstStyle/>
          <a:p>
            <a:r>
              <a:rPr lang="en-US" dirty="0"/>
              <a:t>		Scaled Feature Distribution</a:t>
            </a:r>
            <a:endParaRPr lang="en-IN" dirty="0"/>
          </a:p>
        </p:txBody>
      </p:sp>
      <p:pic>
        <p:nvPicPr>
          <p:cNvPr id="5" name="Content Placeholder 4">
            <a:extLst>
              <a:ext uri="{FF2B5EF4-FFF2-40B4-BE49-F238E27FC236}">
                <a16:creationId xmlns:a16="http://schemas.microsoft.com/office/drawing/2014/main" id="{8528CCBD-1D24-B6D6-1C77-C7D501F24C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91958" y="977593"/>
            <a:ext cx="4800042" cy="3765550"/>
          </a:xfrm>
          <a:prstGeom prst="rect">
            <a:avLst/>
          </a:prstGeom>
        </p:spPr>
      </p:pic>
      <p:sp>
        <p:nvSpPr>
          <p:cNvPr id="6" name="TextBox 5">
            <a:extLst>
              <a:ext uri="{FF2B5EF4-FFF2-40B4-BE49-F238E27FC236}">
                <a16:creationId xmlns:a16="http://schemas.microsoft.com/office/drawing/2014/main" id="{3FC6C368-4096-A49B-2790-BE4B6DA1EA56}"/>
              </a:ext>
            </a:extLst>
          </p:cNvPr>
          <p:cNvSpPr txBox="1"/>
          <p:nvPr/>
        </p:nvSpPr>
        <p:spPr>
          <a:xfrm>
            <a:off x="7933" y="796412"/>
            <a:ext cx="7464583" cy="3416320"/>
          </a:xfrm>
          <a:prstGeom prst="rect">
            <a:avLst/>
          </a:prstGeom>
          <a:noFill/>
        </p:spPr>
        <p:txBody>
          <a:bodyPr wrap="square" rtlCol="0">
            <a:spAutoFit/>
          </a:bodyPr>
          <a:lstStyle/>
          <a:p>
            <a:r>
              <a:rPr lang="en-US" dirty="0"/>
              <a:t>The distribution of the scaled total sales feature shows that the data has been successfully standardized, with values centered around zero and spread across a normalized range.</a:t>
            </a:r>
          </a:p>
          <a:p>
            <a:endParaRPr lang="en-US" dirty="0"/>
          </a:p>
          <a:p>
            <a:r>
              <a:rPr lang="en-US" dirty="0"/>
              <a:t>Despite scaling, the distribution retains a slight right skew, indicating that a subset of products still exhibits higher sales compared to the majority. This reflects the inherent business reality where a few products contribute significantly to overall revenue.</a:t>
            </a:r>
          </a:p>
          <a:p>
            <a:endParaRPr lang="en-US" dirty="0"/>
          </a:p>
          <a:p>
            <a:r>
              <a:rPr lang="en-US" dirty="0"/>
              <a:t>The scaling process ensures that this feature is now comparable with other variables, allowing it to contribute effectively and fairly in the clustering model without dominating due to its original magnitude.</a:t>
            </a:r>
            <a:endParaRPr lang="en-IN" dirty="0"/>
          </a:p>
        </p:txBody>
      </p:sp>
    </p:spTree>
    <p:extLst>
      <p:ext uri="{BB962C8B-B14F-4D97-AF65-F5344CB8AC3E}">
        <p14:creationId xmlns:p14="http://schemas.microsoft.com/office/powerpoint/2010/main" val="841809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5D939-6F9C-45FE-53D2-6BD726505B09}"/>
              </a:ext>
            </a:extLst>
          </p:cNvPr>
          <p:cNvSpPr>
            <a:spLocks noGrp="1"/>
          </p:cNvSpPr>
          <p:nvPr>
            <p:ph type="title"/>
          </p:nvPr>
        </p:nvSpPr>
        <p:spPr>
          <a:xfrm>
            <a:off x="657606" y="0"/>
            <a:ext cx="10973955" cy="875071"/>
          </a:xfrm>
        </p:spPr>
        <p:txBody>
          <a:bodyPr/>
          <a:lstStyle/>
          <a:p>
            <a:r>
              <a:rPr lang="en-US" dirty="0"/>
              <a:t>Models Used in Products Clustering </a:t>
            </a:r>
            <a:endParaRPr lang="en-IN" dirty="0"/>
          </a:p>
        </p:txBody>
      </p:sp>
      <p:sp>
        <p:nvSpPr>
          <p:cNvPr id="3" name="Content Placeholder 2">
            <a:extLst>
              <a:ext uri="{FF2B5EF4-FFF2-40B4-BE49-F238E27FC236}">
                <a16:creationId xmlns:a16="http://schemas.microsoft.com/office/drawing/2014/main" id="{E1CA2F2C-0589-3529-7307-24D1B33C4622}"/>
              </a:ext>
            </a:extLst>
          </p:cNvPr>
          <p:cNvSpPr>
            <a:spLocks noGrp="1"/>
          </p:cNvSpPr>
          <p:nvPr>
            <p:ph idx="1"/>
          </p:nvPr>
        </p:nvSpPr>
        <p:spPr>
          <a:xfrm>
            <a:off x="98324" y="1057951"/>
            <a:ext cx="11995354" cy="5686978"/>
          </a:xfrm>
        </p:spPr>
        <p:txBody>
          <a:bodyPr>
            <a:normAutofit/>
          </a:bodyPr>
          <a:lstStyle/>
          <a:p>
            <a:r>
              <a:rPr lang="en-IN" b="1" dirty="0"/>
              <a:t>K-Means Clustering (Primary Model)</a:t>
            </a:r>
          </a:p>
          <a:p>
            <a:r>
              <a:rPr lang="en-IN" dirty="0"/>
              <a:t>Partition-based clustering algorithm</a:t>
            </a:r>
          </a:p>
          <a:p>
            <a:r>
              <a:rPr lang="en-US" dirty="0"/>
              <a:t>Groups products into </a:t>
            </a:r>
            <a:r>
              <a:rPr lang="en-US" b="1" dirty="0"/>
              <a:t>K clusters based on similarity</a:t>
            </a:r>
          </a:p>
          <a:p>
            <a:r>
              <a:rPr lang="en-US" dirty="0"/>
              <a:t>Works well with </a:t>
            </a:r>
            <a:r>
              <a:rPr lang="en-US" b="1" dirty="0"/>
              <a:t>numerical and scaled data</a:t>
            </a:r>
          </a:p>
          <a:p>
            <a:r>
              <a:rPr lang="en-US" dirty="0"/>
              <a:t>Efficient and scalable for large datasets</a:t>
            </a:r>
          </a:p>
          <a:p>
            <a:endParaRPr lang="en-US" b="1" dirty="0"/>
          </a:p>
          <a:p>
            <a:r>
              <a:rPr lang="en-IN" b="1" dirty="0"/>
              <a:t>Agglomerative Clustering (Hierarchical Model)</a:t>
            </a:r>
          </a:p>
          <a:p>
            <a:r>
              <a:rPr lang="en-IN" dirty="0"/>
              <a:t>Bottom-up hierarchical clustering approach</a:t>
            </a:r>
          </a:p>
          <a:p>
            <a:r>
              <a:rPr lang="en-US" dirty="0"/>
              <a:t>Starts with individual points and merges clusters step-by-step</a:t>
            </a:r>
          </a:p>
          <a:p>
            <a:r>
              <a:rPr lang="en-US" dirty="0"/>
              <a:t>Captures </a:t>
            </a:r>
            <a:r>
              <a:rPr lang="en-US" b="1" dirty="0"/>
              <a:t>complex relationships in data</a:t>
            </a:r>
            <a:endParaRPr lang="en-IN" b="1" dirty="0"/>
          </a:p>
        </p:txBody>
      </p:sp>
    </p:spTree>
    <p:extLst>
      <p:ext uri="{BB962C8B-B14F-4D97-AF65-F5344CB8AC3E}">
        <p14:creationId xmlns:p14="http://schemas.microsoft.com/office/powerpoint/2010/main" val="984670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7009E73-1FCB-D152-DD30-2DA3B8D729EE}"/>
              </a:ext>
            </a:extLst>
          </p:cNvPr>
          <p:cNvSpPr>
            <a:spLocks noGrp="1"/>
          </p:cNvSpPr>
          <p:nvPr>
            <p:ph idx="1"/>
          </p:nvPr>
        </p:nvSpPr>
        <p:spPr>
          <a:xfrm>
            <a:off x="0" y="0"/>
            <a:ext cx="12192000" cy="6858000"/>
          </a:xfrm>
        </p:spPr>
        <p:txBody>
          <a:bodyPr/>
          <a:lstStyle/>
          <a:p>
            <a:r>
              <a:rPr lang="en-US" dirty="0"/>
              <a:t>No need for centroid assumptions</a:t>
            </a:r>
          </a:p>
          <a:p>
            <a:r>
              <a:rPr lang="en-US" dirty="0"/>
              <a:t>Used for </a:t>
            </a:r>
            <a:r>
              <a:rPr lang="en-US" b="1" dirty="0"/>
              <a:t>validation and comparison</a:t>
            </a:r>
            <a:r>
              <a:rPr lang="en-US" dirty="0"/>
              <a:t> </a:t>
            </a:r>
          </a:p>
          <a:p>
            <a:endParaRPr lang="en-IN" dirty="0"/>
          </a:p>
          <a:p>
            <a:r>
              <a:rPr lang="en-IN" b="1" dirty="0"/>
              <a:t>DBSCAN (Density-Based Clustering)</a:t>
            </a:r>
          </a:p>
          <a:p>
            <a:r>
              <a:rPr lang="en-US" dirty="0"/>
              <a:t>Groups data based on </a:t>
            </a:r>
            <a:r>
              <a:rPr lang="en-US" b="1" dirty="0"/>
              <a:t>density of points</a:t>
            </a:r>
          </a:p>
          <a:p>
            <a:r>
              <a:rPr lang="en-US" dirty="0"/>
              <a:t>Identifies </a:t>
            </a:r>
            <a:r>
              <a:rPr lang="en-US" b="1" dirty="0"/>
              <a:t>noise and outliers automatically</a:t>
            </a:r>
          </a:p>
          <a:p>
            <a:r>
              <a:rPr lang="en-US" dirty="0"/>
              <a:t>Does not require predefined number of clusters</a:t>
            </a:r>
          </a:p>
          <a:p>
            <a:endParaRPr lang="en-US" b="1" dirty="0"/>
          </a:p>
          <a:p>
            <a:endParaRPr lang="en-IN" dirty="0"/>
          </a:p>
        </p:txBody>
      </p:sp>
    </p:spTree>
    <p:extLst>
      <p:ext uri="{BB962C8B-B14F-4D97-AF65-F5344CB8AC3E}">
        <p14:creationId xmlns:p14="http://schemas.microsoft.com/office/powerpoint/2010/main" val="620833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4B2AE-53EA-E7D2-E837-DC4266C2F653}"/>
              </a:ext>
            </a:extLst>
          </p:cNvPr>
          <p:cNvSpPr>
            <a:spLocks noGrp="1"/>
          </p:cNvSpPr>
          <p:nvPr>
            <p:ph type="title"/>
          </p:nvPr>
        </p:nvSpPr>
        <p:spPr>
          <a:xfrm>
            <a:off x="657606" y="0"/>
            <a:ext cx="8466729" cy="943897"/>
          </a:xfrm>
        </p:spPr>
        <p:txBody>
          <a:bodyPr/>
          <a:lstStyle/>
          <a:p>
            <a:r>
              <a:rPr lang="en-US" dirty="0"/>
              <a:t>	Hyperparameter Tuning</a:t>
            </a:r>
            <a:endParaRPr lang="en-IN" dirty="0"/>
          </a:p>
        </p:txBody>
      </p:sp>
      <p:sp>
        <p:nvSpPr>
          <p:cNvPr id="3" name="Content Placeholder 2">
            <a:extLst>
              <a:ext uri="{FF2B5EF4-FFF2-40B4-BE49-F238E27FC236}">
                <a16:creationId xmlns:a16="http://schemas.microsoft.com/office/drawing/2014/main" id="{A3681D37-6F05-7922-B77B-8E4562FBA4DC}"/>
              </a:ext>
            </a:extLst>
          </p:cNvPr>
          <p:cNvSpPr>
            <a:spLocks noGrp="1"/>
          </p:cNvSpPr>
          <p:nvPr>
            <p:ph idx="1"/>
          </p:nvPr>
        </p:nvSpPr>
        <p:spPr>
          <a:xfrm>
            <a:off x="298998" y="737420"/>
            <a:ext cx="11594003" cy="5914103"/>
          </a:xfrm>
        </p:spPr>
        <p:txBody>
          <a:bodyPr>
            <a:normAutofit lnSpcReduction="10000"/>
          </a:bodyPr>
          <a:lstStyle/>
          <a:p>
            <a:r>
              <a:rPr lang="en-IN" dirty="0"/>
              <a:t>Optimize clustering performance,</a:t>
            </a:r>
            <a:r>
              <a:rPr lang="en-US" dirty="0"/>
              <a:t> Improve </a:t>
            </a:r>
            <a:r>
              <a:rPr lang="en-US" b="1" dirty="0"/>
              <a:t>cluster separation and compactness</a:t>
            </a:r>
            <a:endParaRPr lang="en-IN" dirty="0"/>
          </a:p>
          <a:p>
            <a:r>
              <a:rPr lang="en-US" dirty="0"/>
              <a:t>Used </a:t>
            </a:r>
            <a:r>
              <a:rPr lang="en-US" b="1" dirty="0"/>
              <a:t>Silhouette Score</a:t>
            </a:r>
            <a:r>
              <a:rPr lang="en-US" dirty="0"/>
              <a:t> as evaluation metric</a:t>
            </a:r>
          </a:p>
          <a:p>
            <a:r>
              <a:rPr lang="en-US" dirty="0"/>
              <a:t>Adopted a </a:t>
            </a:r>
            <a:r>
              <a:rPr lang="en-US" b="1" dirty="0"/>
              <a:t>minimal and efficient tuning approach</a:t>
            </a:r>
          </a:p>
          <a:p>
            <a:r>
              <a:rPr lang="en-US" dirty="0"/>
              <a:t>Focused only on </a:t>
            </a:r>
            <a:r>
              <a:rPr lang="en-US" b="1" dirty="0"/>
              <a:t>critical hyperparameters</a:t>
            </a:r>
          </a:p>
          <a:p>
            <a:r>
              <a:rPr lang="en-US" dirty="0"/>
              <a:t>Reduced search space to ensure </a:t>
            </a:r>
            <a:r>
              <a:rPr lang="en-US" b="1" dirty="0"/>
              <a:t>faster computation</a:t>
            </a:r>
            <a:r>
              <a:rPr lang="en-US" dirty="0"/>
              <a:t> </a:t>
            </a:r>
          </a:p>
          <a:p>
            <a:endParaRPr lang="en-IN" dirty="0"/>
          </a:p>
          <a:p>
            <a:r>
              <a:rPr lang="en-IN" b="1" dirty="0"/>
              <a:t>K-Means Hyperparameters</a:t>
            </a:r>
          </a:p>
          <a:p>
            <a:r>
              <a:rPr lang="en-IN" b="1" dirty="0"/>
              <a:t>Parameters Tuned</a:t>
            </a:r>
          </a:p>
          <a:p>
            <a:r>
              <a:rPr lang="en-US" b="1" dirty="0"/>
              <a:t>Number of Clusters (K):</a:t>
            </a:r>
            <a:r>
              <a:rPr lang="en-US" dirty="0"/>
              <a:t> Tested values from </a:t>
            </a:r>
            <a:r>
              <a:rPr lang="en-US" b="1" dirty="0"/>
              <a:t>2 to 5 and </a:t>
            </a:r>
            <a:r>
              <a:rPr lang="en-US" dirty="0"/>
              <a:t>Selected based on </a:t>
            </a:r>
            <a:r>
              <a:rPr lang="en-US" b="1" dirty="0"/>
              <a:t>highest silhouette score</a:t>
            </a:r>
          </a:p>
          <a:p>
            <a:r>
              <a:rPr lang="en-US" b="1" dirty="0"/>
              <a:t>Parameters Fixed</a:t>
            </a:r>
          </a:p>
          <a:p>
            <a:r>
              <a:rPr lang="en-US" b="1" dirty="0"/>
              <a:t>Init: k-means++(optimized centroid initialization)</a:t>
            </a:r>
          </a:p>
          <a:p>
            <a:r>
              <a:rPr lang="en-US" b="1" dirty="0" err="1"/>
              <a:t>n_init</a:t>
            </a:r>
            <a:r>
              <a:rPr lang="en-US" b="1" dirty="0"/>
              <a:t>: 10(ensures stable result)</a:t>
            </a:r>
          </a:p>
          <a:p>
            <a:r>
              <a:rPr lang="en-US" b="1" dirty="0" err="1"/>
              <a:t>max_iter</a:t>
            </a:r>
            <a:r>
              <a:rPr lang="en-US" b="1" dirty="0"/>
              <a:t>: 300(default, sufficient for convergence)</a:t>
            </a:r>
          </a:p>
          <a:p>
            <a:endParaRPr lang="en-US" b="1" dirty="0"/>
          </a:p>
          <a:p>
            <a:endParaRPr lang="en-IN" b="1" dirty="0"/>
          </a:p>
          <a:p>
            <a:endParaRPr lang="en-IN" dirty="0"/>
          </a:p>
        </p:txBody>
      </p:sp>
    </p:spTree>
    <p:extLst>
      <p:ext uri="{BB962C8B-B14F-4D97-AF65-F5344CB8AC3E}">
        <p14:creationId xmlns:p14="http://schemas.microsoft.com/office/powerpoint/2010/main" val="387915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2EAE1F-C2CC-8270-B5FD-AA29F6FD5D18}"/>
              </a:ext>
            </a:extLst>
          </p:cNvPr>
          <p:cNvSpPr>
            <a:spLocks noGrp="1"/>
          </p:cNvSpPr>
          <p:nvPr>
            <p:ph idx="1"/>
          </p:nvPr>
        </p:nvSpPr>
        <p:spPr>
          <a:xfrm>
            <a:off x="263701" y="94390"/>
            <a:ext cx="11829976" cy="6763610"/>
          </a:xfrm>
        </p:spPr>
        <p:txBody>
          <a:bodyPr/>
          <a:lstStyle/>
          <a:p>
            <a:r>
              <a:rPr lang="en-IN" b="1" dirty="0"/>
              <a:t>Agglomerative Clustering:</a:t>
            </a:r>
          </a:p>
          <a:p>
            <a:r>
              <a:rPr lang="en-IN" b="1" dirty="0"/>
              <a:t>Parameters Tuned: </a:t>
            </a:r>
            <a:r>
              <a:rPr lang="en-IN" dirty="0"/>
              <a:t>Number of Clusters tested values from 2 to 5</a:t>
            </a:r>
          </a:p>
          <a:p>
            <a:r>
              <a:rPr lang="en-IN" b="1" dirty="0"/>
              <a:t>Parameters Fixed: </a:t>
            </a:r>
            <a:r>
              <a:rPr lang="en-IN" dirty="0"/>
              <a:t>Linkage Method: ward(minimizes variance within clusters)</a:t>
            </a:r>
          </a:p>
          <a:p>
            <a:endParaRPr lang="en-IN" dirty="0"/>
          </a:p>
          <a:p>
            <a:r>
              <a:rPr lang="en-IN" b="1" dirty="0"/>
              <a:t>DBSCAN:</a:t>
            </a:r>
          </a:p>
          <a:p>
            <a:r>
              <a:rPr lang="en-IN" b="1" dirty="0"/>
              <a:t>Parameters Tuned: </a:t>
            </a:r>
            <a:r>
              <a:rPr lang="en-US" b="1" dirty="0"/>
              <a:t>eps (neighborhood distance):</a:t>
            </a:r>
            <a:r>
              <a:rPr lang="en-US" dirty="0"/>
              <a:t> [0.5, 1.0, 1.5]</a:t>
            </a:r>
          </a:p>
          <a:p>
            <a:r>
              <a:rPr lang="en-US" b="1" dirty="0" err="1"/>
              <a:t>min_samples</a:t>
            </a:r>
            <a:r>
              <a:rPr lang="en-US" b="1" dirty="0"/>
              <a:t>: </a:t>
            </a:r>
            <a:r>
              <a:rPr lang="en-US" dirty="0"/>
              <a:t>fixed at 5</a:t>
            </a:r>
          </a:p>
          <a:p>
            <a:endParaRPr lang="en-US" dirty="0"/>
          </a:p>
          <a:p>
            <a:r>
              <a:rPr lang="en-IN" b="1" dirty="0"/>
              <a:t>Key points:</a:t>
            </a:r>
          </a:p>
          <a:p>
            <a:r>
              <a:rPr lang="en-IN" dirty="0"/>
              <a:t>Minimal tuning ensures fast and scalable pipeline </a:t>
            </a:r>
          </a:p>
          <a:p>
            <a:r>
              <a:rPr lang="en-IN" dirty="0"/>
              <a:t>Over-tuning had been performed but it led to high computation time and RAM crashes.</a:t>
            </a:r>
          </a:p>
          <a:p>
            <a:r>
              <a:rPr lang="en-IN" dirty="0"/>
              <a:t>Model selection driven by performance + interpretability</a:t>
            </a:r>
          </a:p>
          <a:p>
            <a:r>
              <a:rPr lang="en-IN" dirty="0"/>
              <a:t>Focused on most impactful parameters, ensuring optimal performance while maintaining computational efficiency </a:t>
            </a:r>
          </a:p>
        </p:txBody>
      </p:sp>
    </p:spTree>
    <p:extLst>
      <p:ext uri="{BB962C8B-B14F-4D97-AF65-F5344CB8AC3E}">
        <p14:creationId xmlns:p14="http://schemas.microsoft.com/office/powerpoint/2010/main" val="427117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151D-C080-1BE5-CF2F-62681921BFF5}"/>
              </a:ext>
            </a:extLst>
          </p:cNvPr>
          <p:cNvSpPr>
            <a:spLocks noGrp="1"/>
          </p:cNvSpPr>
          <p:nvPr>
            <p:ph type="title"/>
          </p:nvPr>
        </p:nvSpPr>
        <p:spPr>
          <a:xfrm>
            <a:off x="558902" y="0"/>
            <a:ext cx="9175034" cy="806245"/>
          </a:xfrm>
        </p:spPr>
        <p:txBody>
          <a:bodyPr/>
          <a:lstStyle/>
          <a:p>
            <a:r>
              <a:rPr lang="en-IN" dirty="0"/>
              <a:t>		Final Model Selection</a:t>
            </a:r>
          </a:p>
        </p:txBody>
      </p:sp>
      <p:sp>
        <p:nvSpPr>
          <p:cNvPr id="3" name="Content Placeholder 2">
            <a:extLst>
              <a:ext uri="{FF2B5EF4-FFF2-40B4-BE49-F238E27FC236}">
                <a16:creationId xmlns:a16="http://schemas.microsoft.com/office/drawing/2014/main" id="{EE2A68BA-41EF-3D37-BCC7-3976AF796D74}"/>
              </a:ext>
            </a:extLst>
          </p:cNvPr>
          <p:cNvSpPr>
            <a:spLocks noGrp="1"/>
          </p:cNvSpPr>
          <p:nvPr>
            <p:ph idx="1"/>
          </p:nvPr>
        </p:nvSpPr>
        <p:spPr>
          <a:xfrm>
            <a:off x="0" y="694158"/>
            <a:ext cx="12192000" cy="6090100"/>
          </a:xfrm>
        </p:spPr>
        <p:txBody>
          <a:bodyPr>
            <a:normAutofit lnSpcReduction="10000"/>
          </a:bodyPr>
          <a:lstStyle/>
          <a:p>
            <a:r>
              <a:rPr lang="en-IN" dirty="0"/>
              <a:t>Model Performance:</a:t>
            </a:r>
          </a:p>
          <a:p>
            <a:r>
              <a:rPr lang="en-IN" dirty="0"/>
              <a:t>K-Means: ~0.46</a:t>
            </a:r>
          </a:p>
          <a:p>
            <a:r>
              <a:rPr lang="en-IN" dirty="0"/>
              <a:t>Agglomerative:~0.45</a:t>
            </a:r>
          </a:p>
          <a:p>
            <a:r>
              <a:rPr lang="en-IN" dirty="0"/>
              <a:t>DBSCAN: -1(invalid clustering)</a:t>
            </a:r>
          </a:p>
          <a:p>
            <a:endParaRPr lang="en-IN" dirty="0"/>
          </a:p>
          <a:p>
            <a:r>
              <a:rPr lang="en-IN" dirty="0"/>
              <a:t>Selection criteria: Highest Silhouette score, Clear Cluster separation(PCA Visualization)</a:t>
            </a:r>
          </a:p>
          <a:p>
            <a:r>
              <a:rPr lang="en-IN" dirty="0"/>
              <a:t>Computational efficiency and scalability</a:t>
            </a:r>
          </a:p>
          <a:p>
            <a:r>
              <a:rPr lang="en-IN" dirty="0"/>
              <a:t>Business interpretability</a:t>
            </a:r>
          </a:p>
          <a:p>
            <a:endParaRPr lang="en-IN" dirty="0"/>
          </a:p>
          <a:p>
            <a:r>
              <a:rPr lang="en-IN" dirty="0"/>
              <a:t>Final Model Chosen: K-Means Clustering(K=2) Provided best balance of </a:t>
            </a:r>
            <a:r>
              <a:rPr lang="en-IN" dirty="0" err="1"/>
              <a:t>Performance,Speed</a:t>
            </a:r>
            <a:r>
              <a:rPr lang="en-IN" dirty="0"/>
              <a:t> and Simplicity</a:t>
            </a:r>
          </a:p>
          <a:p>
            <a:r>
              <a:rPr lang="en-IN" dirty="0"/>
              <a:t>Key Outcome: Identified 2 distinct product segments:</a:t>
            </a:r>
          </a:p>
          <a:p>
            <a:r>
              <a:rPr lang="en-IN" dirty="0"/>
              <a:t>Low/Moderate Demand Products</a:t>
            </a:r>
          </a:p>
          <a:p>
            <a:r>
              <a:rPr lang="en-IN" dirty="0"/>
              <a:t>High Demand Products</a:t>
            </a:r>
          </a:p>
          <a:p>
            <a:endParaRPr lang="en-IN" dirty="0"/>
          </a:p>
          <a:p>
            <a:endParaRPr lang="en-IN" dirty="0"/>
          </a:p>
        </p:txBody>
      </p:sp>
    </p:spTree>
    <p:extLst>
      <p:ext uri="{BB962C8B-B14F-4D97-AF65-F5344CB8AC3E}">
        <p14:creationId xmlns:p14="http://schemas.microsoft.com/office/powerpoint/2010/main" val="3987544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14DAD-4C66-C7CF-948F-4BE2CE6A3CCB}"/>
              </a:ext>
            </a:extLst>
          </p:cNvPr>
          <p:cNvSpPr>
            <a:spLocks noGrp="1"/>
          </p:cNvSpPr>
          <p:nvPr>
            <p:ph type="title"/>
          </p:nvPr>
        </p:nvSpPr>
        <p:spPr>
          <a:xfrm>
            <a:off x="676656" y="0"/>
            <a:ext cx="9666879" cy="737419"/>
          </a:xfrm>
        </p:spPr>
        <p:txBody>
          <a:bodyPr>
            <a:normAutofit fontScale="90000"/>
          </a:bodyPr>
          <a:lstStyle/>
          <a:p>
            <a:r>
              <a:rPr lang="en-IN" dirty="0"/>
              <a:t>PCA Based Cluster Visualization</a:t>
            </a:r>
          </a:p>
        </p:txBody>
      </p:sp>
      <p:pic>
        <p:nvPicPr>
          <p:cNvPr id="7" name="Content Placeholder 6">
            <a:extLst>
              <a:ext uri="{FF2B5EF4-FFF2-40B4-BE49-F238E27FC236}">
                <a16:creationId xmlns:a16="http://schemas.microsoft.com/office/drawing/2014/main" id="{56FDF40F-0F94-4996-52EC-5CE7695F49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14376" y="471295"/>
            <a:ext cx="5177623" cy="4110537"/>
          </a:xfrm>
          <a:prstGeom prst="rect">
            <a:avLst/>
          </a:prstGeom>
        </p:spPr>
      </p:pic>
      <p:sp>
        <p:nvSpPr>
          <p:cNvPr id="8" name="TextBox 7">
            <a:extLst>
              <a:ext uri="{FF2B5EF4-FFF2-40B4-BE49-F238E27FC236}">
                <a16:creationId xmlns:a16="http://schemas.microsoft.com/office/drawing/2014/main" id="{ED334051-B88D-CBB6-5833-6EA1C6295E22}"/>
              </a:ext>
            </a:extLst>
          </p:cNvPr>
          <p:cNvSpPr txBox="1"/>
          <p:nvPr/>
        </p:nvSpPr>
        <p:spPr>
          <a:xfrm>
            <a:off x="-1" y="737418"/>
            <a:ext cx="7275871" cy="6463308"/>
          </a:xfrm>
          <a:prstGeom prst="rect">
            <a:avLst/>
          </a:prstGeom>
          <a:noFill/>
        </p:spPr>
        <p:txBody>
          <a:bodyPr wrap="square" rtlCol="0">
            <a:spAutoFit/>
          </a:bodyPr>
          <a:lstStyle/>
          <a:p>
            <a:r>
              <a:rPr lang="en-US" dirty="0"/>
              <a:t>Applied </a:t>
            </a:r>
            <a:r>
              <a:rPr lang="en-US" b="1" dirty="0"/>
              <a:t>Principal Component Analysis (PCA)</a:t>
            </a:r>
            <a:r>
              <a:rPr lang="en-US" dirty="0"/>
              <a:t> to reduce high-dimensional data into </a:t>
            </a:r>
            <a:r>
              <a:rPr lang="en-US" b="1" dirty="0"/>
              <a:t>2 dimensions</a:t>
            </a:r>
          </a:p>
          <a:p>
            <a:r>
              <a:rPr lang="en-US" dirty="0"/>
              <a:t>Enables </a:t>
            </a:r>
            <a:r>
              <a:rPr lang="en-US" b="1" dirty="0"/>
              <a:t>visual interpretation of clusters</a:t>
            </a:r>
          </a:p>
          <a:p>
            <a:r>
              <a:rPr lang="en-IN" dirty="0"/>
              <a:t>Preserves maximum variance in data</a:t>
            </a:r>
          </a:p>
          <a:p>
            <a:endParaRPr lang="en-IN" dirty="0"/>
          </a:p>
          <a:p>
            <a:r>
              <a:rPr lang="en-IN" b="1" dirty="0"/>
              <a:t>Key Observations:</a:t>
            </a:r>
          </a:p>
          <a:p>
            <a:r>
              <a:rPr lang="en-IN" dirty="0"/>
              <a:t>Clear Separation between two clusters</a:t>
            </a:r>
          </a:p>
          <a:p>
            <a:r>
              <a:rPr lang="en-IN" dirty="0"/>
              <a:t>Distinct grouping along the PCA1 axis</a:t>
            </a:r>
          </a:p>
          <a:p>
            <a:r>
              <a:rPr lang="en-IN" dirty="0"/>
              <a:t>Minimal overlap between clusters indicates strong cluster quality</a:t>
            </a:r>
          </a:p>
          <a:p>
            <a:endParaRPr lang="en-IN" dirty="0"/>
          </a:p>
          <a:p>
            <a:r>
              <a:rPr lang="en-IN" b="1" dirty="0"/>
              <a:t>Cluster Distribution:</a:t>
            </a:r>
          </a:p>
          <a:p>
            <a:r>
              <a:rPr lang="en-IN" b="1" dirty="0"/>
              <a:t>Cluster 0 (Left Side)</a:t>
            </a:r>
          </a:p>
          <a:p>
            <a:r>
              <a:rPr lang="en-IN" dirty="0"/>
              <a:t>Represents low to moderate demand products</a:t>
            </a:r>
          </a:p>
          <a:p>
            <a:r>
              <a:rPr lang="en-IN" dirty="0"/>
              <a:t>More compact and dense distribution</a:t>
            </a:r>
          </a:p>
          <a:p>
            <a:endParaRPr lang="en-IN" dirty="0"/>
          </a:p>
          <a:p>
            <a:r>
              <a:rPr lang="en-IN" b="1" dirty="0"/>
              <a:t>Cluster 1(Right Side)</a:t>
            </a:r>
          </a:p>
          <a:p>
            <a:r>
              <a:rPr lang="en-IN" dirty="0"/>
              <a:t>Represents high demand products</a:t>
            </a:r>
          </a:p>
          <a:p>
            <a:r>
              <a:rPr lang="en-IN" dirty="0"/>
              <a:t>Wider spread indicating variability </a:t>
            </a:r>
          </a:p>
          <a:p>
            <a:endParaRPr lang="en-IN" dirty="0"/>
          </a:p>
          <a:p>
            <a:r>
              <a:rPr lang="en-IN" b="1" dirty="0"/>
              <a:t>Interpretation:</a:t>
            </a:r>
          </a:p>
          <a:p>
            <a:r>
              <a:rPr lang="en-IN" dirty="0"/>
              <a:t>PCA Confirms that the clustering model has successfully:</a:t>
            </a:r>
          </a:p>
          <a:p>
            <a:r>
              <a:rPr lang="en-IN" dirty="0"/>
              <a:t>Identified distinct product segments &amp; meaningful patterns in sales</a:t>
            </a:r>
            <a:endParaRPr lang="en-IN" b="1" dirty="0"/>
          </a:p>
          <a:p>
            <a:endParaRPr lang="en-IN" dirty="0"/>
          </a:p>
        </p:txBody>
      </p:sp>
    </p:spTree>
    <p:extLst>
      <p:ext uri="{BB962C8B-B14F-4D97-AF65-F5344CB8AC3E}">
        <p14:creationId xmlns:p14="http://schemas.microsoft.com/office/powerpoint/2010/main" val="22753360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04B0C-9754-29E9-368F-F596D2D4C582}"/>
              </a:ext>
            </a:extLst>
          </p:cNvPr>
          <p:cNvSpPr>
            <a:spLocks noGrp="1"/>
          </p:cNvSpPr>
          <p:nvPr>
            <p:ph type="title"/>
          </p:nvPr>
        </p:nvSpPr>
        <p:spPr>
          <a:xfrm>
            <a:off x="568734" y="0"/>
            <a:ext cx="10286080" cy="658761"/>
          </a:xfrm>
        </p:spPr>
        <p:txBody>
          <a:bodyPr>
            <a:normAutofit fontScale="90000"/>
          </a:bodyPr>
          <a:lstStyle/>
          <a:p>
            <a:r>
              <a:rPr lang="en-IN" dirty="0"/>
              <a:t>		Business Recommendation</a:t>
            </a:r>
          </a:p>
        </p:txBody>
      </p:sp>
      <p:sp>
        <p:nvSpPr>
          <p:cNvPr id="3" name="Content Placeholder 2">
            <a:extLst>
              <a:ext uri="{FF2B5EF4-FFF2-40B4-BE49-F238E27FC236}">
                <a16:creationId xmlns:a16="http://schemas.microsoft.com/office/drawing/2014/main" id="{867643DA-A48C-5EB9-5BCF-89602B444EAC}"/>
              </a:ext>
            </a:extLst>
          </p:cNvPr>
          <p:cNvSpPr>
            <a:spLocks noGrp="1"/>
          </p:cNvSpPr>
          <p:nvPr>
            <p:ph idx="1"/>
          </p:nvPr>
        </p:nvSpPr>
        <p:spPr>
          <a:xfrm>
            <a:off x="209011" y="658761"/>
            <a:ext cx="11982989" cy="6199239"/>
          </a:xfrm>
        </p:spPr>
        <p:txBody>
          <a:bodyPr/>
          <a:lstStyle/>
          <a:p>
            <a:r>
              <a:rPr lang="en-IN" b="1" dirty="0"/>
              <a:t>Inventory Optimization:</a:t>
            </a:r>
          </a:p>
          <a:p>
            <a:r>
              <a:rPr lang="en-US" dirty="0"/>
              <a:t>Maintain </a:t>
            </a:r>
            <a:r>
              <a:rPr lang="en-US" b="1" dirty="0"/>
              <a:t>higher stock levels</a:t>
            </a:r>
            <a:r>
              <a:rPr lang="en-US" dirty="0"/>
              <a:t> for high-demand products (Cluster 1)</a:t>
            </a:r>
          </a:p>
          <a:p>
            <a:r>
              <a:rPr lang="en-US" dirty="0"/>
              <a:t>Avoid overstocking of </a:t>
            </a:r>
            <a:r>
              <a:rPr lang="en-US" b="1" dirty="0"/>
              <a:t>low-demand products</a:t>
            </a:r>
            <a:r>
              <a:rPr lang="en-US" dirty="0"/>
              <a:t> (Cluster 0)</a:t>
            </a:r>
          </a:p>
          <a:p>
            <a:r>
              <a:rPr lang="en-IN" dirty="0"/>
              <a:t>Implement </a:t>
            </a:r>
            <a:r>
              <a:rPr lang="en-IN" b="1" dirty="0"/>
              <a:t>data-driven inventory planning</a:t>
            </a:r>
          </a:p>
          <a:p>
            <a:r>
              <a:rPr lang="en-IN" b="1" dirty="0"/>
              <a:t>Product Portfolio Strategy</a:t>
            </a:r>
          </a:p>
          <a:p>
            <a:r>
              <a:rPr lang="en-US" dirty="0"/>
              <a:t>Focus on expanding </a:t>
            </a:r>
            <a:r>
              <a:rPr lang="en-US" b="1" dirty="0"/>
              <a:t>high-performing product categories</a:t>
            </a:r>
          </a:p>
          <a:p>
            <a:r>
              <a:rPr lang="en-US" dirty="0"/>
              <a:t>Re-evaluate or phase out </a:t>
            </a:r>
            <a:r>
              <a:rPr lang="en-US" b="1" dirty="0"/>
              <a:t>consistently low-performing products</a:t>
            </a:r>
          </a:p>
          <a:p>
            <a:r>
              <a:rPr lang="en-US" dirty="0"/>
              <a:t>Introduce </a:t>
            </a:r>
            <a:r>
              <a:rPr lang="en-US" b="1" dirty="0"/>
              <a:t>targeted product bundles</a:t>
            </a:r>
            <a:r>
              <a:rPr lang="en-US" dirty="0"/>
              <a:t> to improve low-demand sales </a:t>
            </a:r>
          </a:p>
          <a:p>
            <a:r>
              <a:rPr lang="en-IN" b="1" dirty="0"/>
              <a:t>Sales &amp; Marketing Strategy</a:t>
            </a:r>
          </a:p>
          <a:p>
            <a:r>
              <a:rPr lang="en-US" dirty="0"/>
              <a:t>Allocate more marketing budget to </a:t>
            </a:r>
            <a:r>
              <a:rPr lang="en-US" b="1" dirty="0"/>
              <a:t>high-demand products</a:t>
            </a:r>
          </a:p>
          <a:p>
            <a:r>
              <a:rPr lang="en-US" dirty="0"/>
              <a:t>Use promotions and discounts to boost </a:t>
            </a:r>
            <a:r>
              <a:rPr lang="en-US" b="1" dirty="0"/>
              <a:t>low-demand items</a:t>
            </a:r>
          </a:p>
          <a:p>
            <a:r>
              <a:rPr lang="en-US" dirty="0"/>
              <a:t>Personalize campaigns based on </a:t>
            </a:r>
            <a:r>
              <a:rPr lang="en-US" b="1" dirty="0"/>
              <a:t>product cluster behavior</a:t>
            </a:r>
            <a:endParaRPr lang="en-IN" b="1" dirty="0"/>
          </a:p>
        </p:txBody>
      </p:sp>
    </p:spTree>
    <p:extLst>
      <p:ext uri="{BB962C8B-B14F-4D97-AF65-F5344CB8AC3E}">
        <p14:creationId xmlns:p14="http://schemas.microsoft.com/office/powerpoint/2010/main" val="2806457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DFD1251-B306-000C-0611-145F3D8CE0C5}"/>
              </a:ext>
            </a:extLst>
          </p:cNvPr>
          <p:cNvSpPr>
            <a:spLocks noGrp="1"/>
          </p:cNvSpPr>
          <p:nvPr>
            <p:ph idx="1"/>
          </p:nvPr>
        </p:nvSpPr>
        <p:spPr>
          <a:xfrm>
            <a:off x="0" y="0"/>
            <a:ext cx="12192000" cy="6858000"/>
          </a:xfrm>
        </p:spPr>
        <p:txBody>
          <a:bodyPr/>
          <a:lstStyle/>
          <a:p>
            <a:r>
              <a:rPr lang="en-IN" b="1" dirty="0"/>
              <a:t>Supplier &amp; Procurement Planning</a:t>
            </a:r>
          </a:p>
          <a:p>
            <a:r>
              <a:rPr lang="en-US" dirty="0"/>
              <a:t>Prioritize procurement for </a:t>
            </a:r>
            <a:r>
              <a:rPr lang="en-US" b="1" dirty="0"/>
              <a:t>fast-moving products</a:t>
            </a:r>
          </a:p>
          <a:p>
            <a:r>
              <a:rPr lang="en-US" dirty="0"/>
              <a:t>Optimize supplier relationships for high-demand categories</a:t>
            </a:r>
          </a:p>
          <a:p>
            <a:r>
              <a:rPr lang="en-US" dirty="0"/>
              <a:t>Reduce procurement frequency for slow-moving inventory</a:t>
            </a:r>
          </a:p>
          <a:p>
            <a:endParaRPr lang="en-US" dirty="0"/>
          </a:p>
          <a:p>
            <a:r>
              <a:rPr lang="en-IN" b="1" dirty="0"/>
              <a:t>Demand Forecasting &amp; Planning</a:t>
            </a:r>
          </a:p>
          <a:p>
            <a:r>
              <a:rPr lang="en-US" dirty="0"/>
              <a:t>Use cluster insights to improve </a:t>
            </a:r>
            <a:r>
              <a:rPr lang="en-US" b="1" dirty="0"/>
              <a:t>demand forecasting accuracy</a:t>
            </a:r>
          </a:p>
          <a:p>
            <a:r>
              <a:rPr lang="en-US" dirty="0"/>
              <a:t>Plan seasonal inventory based on </a:t>
            </a:r>
            <a:r>
              <a:rPr lang="en-US" b="1" dirty="0"/>
              <a:t>product behavior patterns</a:t>
            </a:r>
          </a:p>
          <a:p>
            <a:r>
              <a:rPr lang="en-IN" dirty="0"/>
              <a:t>Enable </a:t>
            </a:r>
            <a:r>
              <a:rPr lang="en-IN" b="1" dirty="0"/>
              <a:t>proactive decision-making</a:t>
            </a:r>
          </a:p>
          <a:p>
            <a:endParaRPr lang="en-IN" b="1" dirty="0"/>
          </a:p>
          <a:p>
            <a:r>
              <a:rPr lang="en-IN" b="1" dirty="0"/>
              <a:t>Operational Efficiency</a:t>
            </a:r>
          </a:p>
          <a:p>
            <a:r>
              <a:rPr lang="en-US" dirty="0"/>
              <a:t>Streamline warehouse operations based on </a:t>
            </a:r>
            <a:r>
              <a:rPr lang="en-US" b="1" dirty="0"/>
              <a:t>product movement patterns</a:t>
            </a:r>
          </a:p>
          <a:p>
            <a:r>
              <a:rPr lang="en-US" dirty="0"/>
              <a:t>Reduce storage and holding costs for low-performing products</a:t>
            </a:r>
          </a:p>
          <a:p>
            <a:r>
              <a:rPr lang="en-US" dirty="0"/>
              <a:t>Improve overall </a:t>
            </a:r>
            <a:r>
              <a:rPr lang="en-US" b="1" dirty="0"/>
              <a:t>supply chain efficiency</a:t>
            </a:r>
            <a:endParaRPr lang="en-IN" b="1" dirty="0"/>
          </a:p>
          <a:p>
            <a:endParaRPr lang="en-IN" b="1" dirty="0"/>
          </a:p>
        </p:txBody>
      </p:sp>
    </p:spTree>
    <p:extLst>
      <p:ext uri="{BB962C8B-B14F-4D97-AF65-F5344CB8AC3E}">
        <p14:creationId xmlns:p14="http://schemas.microsoft.com/office/powerpoint/2010/main" val="4030825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D38C-7CE5-C4AC-0A99-3D38E11BF980}"/>
              </a:ext>
            </a:extLst>
          </p:cNvPr>
          <p:cNvSpPr>
            <a:spLocks noGrp="1"/>
          </p:cNvSpPr>
          <p:nvPr>
            <p:ph type="title"/>
          </p:nvPr>
        </p:nvSpPr>
        <p:spPr>
          <a:xfrm>
            <a:off x="127820" y="-412955"/>
            <a:ext cx="12192000" cy="1658198"/>
          </a:xfrm>
        </p:spPr>
        <p:txBody>
          <a:bodyPr/>
          <a:lstStyle/>
          <a:p>
            <a:r>
              <a:rPr lang="en-US" dirty="0"/>
              <a:t>Model Deployment using Streamlit (Spyder)</a:t>
            </a:r>
            <a:endParaRPr lang="en-IN" dirty="0"/>
          </a:p>
        </p:txBody>
      </p:sp>
      <p:sp>
        <p:nvSpPr>
          <p:cNvPr id="3" name="Content Placeholder 2">
            <a:extLst>
              <a:ext uri="{FF2B5EF4-FFF2-40B4-BE49-F238E27FC236}">
                <a16:creationId xmlns:a16="http://schemas.microsoft.com/office/drawing/2014/main" id="{AB915FAD-3490-E51A-B6B3-0EB925772186}"/>
              </a:ext>
            </a:extLst>
          </p:cNvPr>
          <p:cNvSpPr>
            <a:spLocks noGrp="1"/>
          </p:cNvSpPr>
          <p:nvPr>
            <p:ph idx="1"/>
          </p:nvPr>
        </p:nvSpPr>
        <p:spPr>
          <a:xfrm>
            <a:off x="127820" y="993058"/>
            <a:ext cx="12064180" cy="5864942"/>
          </a:xfrm>
        </p:spPr>
        <p:txBody>
          <a:bodyPr>
            <a:normAutofit fontScale="92500" lnSpcReduction="10000"/>
          </a:bodyPr>
          <a:lstStyle/>
          <a:p>
            <a:r>
              <a:rPr lang="en-IN" b="1" dirty="0"/>
              <a:t>Deployment Objective</a:t>
            </a:r>
          </a:p>
          <a:p>
            <a:r>
              <a:rPr lang="en-US" dirty="0"/>
              <a:t>Convert clustering model into an </a:t>
            </a:r>
            <a:r>
              <a:rPr lang="en-US" b="1" dirty="0"/>
              <a:t>interactive web application</a:t>
            </a:r>
          </a:p>
          <a:p>
            <a:r>
              <a:rPr lang="en-IN" dirty="0"/>
              <a:t>Enable </a:t>
            </a:r>
            <a:r>
              <a:rPr lang="en-IN" b="1" dirty="0"/>
              <a:t>real-time product classification</a:t>
            </a:r>
          </a:p>
          <a:p>
            <a:r>
              <a:rPr lang="en-US" dirty="0"/>
              <a:t>Make solution accessible to </a:t>
            </a:r>
            <a:r>
              <a:rPr lang="en-US" b="1" dirty="0"/>
              <a:t>non-technical users</a:t>
            </a:r>
          </a:p>
          <a:p>
            <a:r>
              <a:rPr lang="en-US" b="1" dirty="0"/>
              <a:t>Tools Used for Deployment</a:t>
            </a:r>
          </a:p>
          <a:p>
            <a:r>
              <a:rPr lang="en-US" dirty="0"/>
              <a:t>Model deployment code in Spyder</a:t>
            </a:r>
          </a:p>
          <a:p>
            <a:r>
              <a:rPr lang="en-US" dirty="0"/>
              <a:t>Model and scaler saved using </a:t>
            </a:r>
            <a:r>
              <a:rPr lang="en-US" dirty="0" err="1"/>
              <a:t>joblib</a:t>
            </a:r>
            <a:endParaRPr lang="en-US" dirty="0"/>
          </a:p>
          <a:p>
            <a:r>
              <a:rPr lang="en-US" dirty="0"/>
              <a:t>Streamlit app created in separate Python script (app.py)</a:t>
            </a:r>
          </a:p>
          <a:p>
            <a:r>
              <a:rPr lang="en-US" b="1" dirty="0"/>
              <a:t>Key Features of the App</a:t>
            </a:r>
          </a:p>
          <a:p>
            <a:r>
              <a:rPr lang="en-US" dirty="0"/>
              <a:t>User inputs product features: Sales of the month, Variability(CV), Retail &amp; Warehouse Ratio &amp; Active Months </a:t>
            </a:r>
          </a:p>
          <a:p>
            <a:r>
              <a:rPr lang="en-US" b="1" dirty="0"/>
              <a:t>Predicted: Low/Moderate Demand Cluster or High Demand Cluster</a:t>
            </a:r>
          </a:p>
          <a:p>
            <a:r>
              <a:rPr lang="en-US" b="1" dirty="0"/>
              <a:t>App is executed using terminal command streamlit run app.py </a:t>
            </a:r>
          </a:p>
          <a:p>
            <a:r>
              <a:rPr lang="en-US" b="1" dirty="0"/>
              <a:t>Automatically launches in browser - http://localhost:8501</a:t>
            </a:r>
          </a:p>
          <a:p>
            <a:endParaRPr lang="en-US" b="1" dirty="0"/>
          </a:p>
          <a:p>
            <a:endParaRPr lang="en-US" b="1" dirty="0"/>
          </a:p>
          <a:p>
            <a:endParaRPr lang="en-US" dirty="0"/>
          </a:p>
        </p:txBody>
      </p:sp>
    </p:spTree>
    <p:extLst>
      <p:ext uri="{BB962C8B-B14F-4D97-AF65-F5344CB8AC3E}">
        <p14:creationId xmlns:p14="http://schemas.microsoft.com/office/powerpoint/2010/main" val="2465691066"/>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Override1.xml><?xml version="1.0" encoding="utf-8"?>
<a:themeOverride xmlns:a="http://schemas.openxmlformats.org/drawingml/2006/main">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themeOverride>
</file>

<file path=docProps/app.xml><?xml version="1.0" encoding="utf-8"?>
<Properties xmlns="http://schemas.openxmlformats.org/officeDocument/2006/extended-properties" xmlns:vt="http://schemas.openxmlformats.org/officeDocument/2006/docPropsVTypes">
  <Template/>
  <TotalTime>620</TotalTime>
  <Words>4668</Words>
  <Application>Microsoft Office PowerPoint</Application>
  <PresentationFormat>Widescreen</PresentationFormat>
  <Paragraphs>401</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 Light</vt:lpstr>
      <vt:lpstr>Metropolitan</vt:lpstr>
      <vt:lpstr>PROJECT ON PRODUCT CLUSTER ANALYSIS</vt:lpstr>
      <vt:lpstr>  TABLE OF CONTENTS</vt:lpstr>
      <vt:lpstr>   INTRODUCTION</vt:lpstr>
      <vt:lpstr> BUSINESS UNDERSTANDING</vt:lpstr>
      <vt:lpstr>   METHODOLOGY</vt:lpstr>
      <vt:lpstr>  DATASET EXPLORATION</vt:lpstr>
      <vt:lpstr>  DATASET DESCRIPTION</vt:lpstr>
      <vt:lpstr>   DATA CLEANING</vt:lpstr>
      <vt:lpstr> TOTAL SALES DISTRIBUTION</vt:lpstr>
      <vt:lpstr>LOG TRANSFORMED SALES DISTRIBUTION</vt:lpstr>
      <vt:lpstr>  FEATURE ENGINEERING</vt:lpstr>
      <vt:lpstr>PowerPoint Presentation</vt:lpstr>
      <vt:lpstr>PowerPoint Presentation</vt:lpstr>
      <vt:lpstr> FEATURE CORRELATION HEATMAP</vt:lpstr>
      <vt:lpstr>PowerPoint Presentation</vt:lpstr>
      <vt:lpstr> EXPLORATORY DATA ANALYSIS(EDA)</vt:lpstr>
      <vt:lpstr>PowerPoint Presentation</vt:lpstr>
      <vt:lpstr>              Top Products</vt:lpstr>
      <vt:lpstr>   Top Suppliers</vt:lpstr>
      <vt:lpstr>  Sales by Product Type</vt:lpstr>
      <vt:lpstr>   Monthly Sales Trend</vt:lpstr>
      <vt:lpstr>   Correlation Matrix</vt:lpstr>
      <vt:lpstr>   Retail vs Warehouse Sales</vt:lpstr>
      <vt:lpstr>   Feature Scaling</vt:lpstr>
      <vt:lpstr>  Scaled Feature Distribution</vt:lpstr>
      <vt:lpstr>Models Used in Products Clustering </vt:lpstr>
      <vt:lpstr>PowerPoint Presentation</vt:lpstr>
      <vt:lpstr> Hyperparameter Tuning</vt:lpstr>
      <vt:lpstr>PowerPoint Presentation</vt:lpstr>
      <vt:lpstr>  Final Model Selection</vt:lpstr>
      <vt:lpstr>PCA Based Cluster Visualization</vt:lpstr>
      <vt:lpstr>  Business Recommendation</vt:lpstr>
      <vt:lpstr>PowerPoint Presentation</vt:lpstr>
      <vt:lpstr>Model Deployment using Streamlit (Spyder)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sanu mathew</dc:creator>
  <cp:lastModifiedBy>sanu mathew</cp:lastModifiedBy>
  <cp:revision>1</cp:revision>
  <dcterms:created xsi:type="dcterms:W3CDTF">2026-03-25T15:18:50Z</dcterms:created>
  <dcterms:modified xsi:type="dcterms:W3CDTF">2026-03-26T17:03:20Z</dcterms:modified>
</cp:coreProperties>
</file>